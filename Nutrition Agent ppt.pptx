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6" r:id="rId13"/>
    <p:sldId id="267" r:id="rId14"/>
    <p:sldId id="268" r:id="rId15"/>
    <p:sldId id="269" r:id="rId16"/>
    <p:sldId id="270" r:id="rId17"/>
    <p:sldId id="271" r:id="rId18"/>
  </p:sldIdLst>
  <p:sldSz cx="12192000" cy="6858000"/>
  <p:notesSz cx="9144000" cy="6858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063BE5B-8E01-4B91-9C5C-8479B17E1E5F}"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tableStyles" Target="tableStyles.xml"/><Relationship Id="rId20" Type="http://schemas.openxmlformats.org/officeDocument/2006/relationships/viewProps" Target="viewProps.xml"/><Relationship Id="rId2" Type="http://schemas.openxmlformats.org/officeDocument/2006/relationships/theme" Target="theme/theme1.xml"/><Relationship Id="rId19" Type="http://schemas.openxmlformats.org/officeDocument/2006/relationships/presProps" Target="presProps.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2" name="Shape 2"/>
        <p:cNvGrpSpPr/>
        <p:nvPr/>
      </p:nvGrpSpPr>
      <p:grpSpPr>
        <a:xfrm>
          <a:off x="0" y="0"/>
          <a:ext cx="0" cy="0"/>
          <a:chOff x="0" y="0"/>
          <a:chExt cx="0" cy="0"/>
        </a:xfrm>
      </p:grpSpPr>
      <p:sp>
        <p:nvSpPr>
          <p:cNvPr id="3" name="Google Shape;3;n"/>
          <p:cNvSpPr/>
          <p:nvPr>
            <p:ph type="sldImg" idx="2"/>
          </p:nvPr>
        </p:nvSpPr>
        <p:spPr>
          <a:xfrm>
            <a:off x="2857866" y="514350"/>
            <a:ext cx="3429169"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p:nvPr>
            <p:ph type="body" idx="1"/>
          </p:nvPr>
        </p:nvSpPr>
        <p:spPr>
          <a:xfrm>
            <a:off x="914400" y="3257550"/>
            <a:ext cx="7315200" cy="30861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panose="020B0604020202090204"/>
              <a:buChar char="●"/>
              <a:defRPr sz="11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L="914400" marR="0" lvl="1" indent="-298450" algn="l" rtl="0">
              <a:lnSpc>
                <a:spcPct val="100000"/>
              </a:lnSpc>
              <a:spcBef>
                <a:spcPts val="0"/>
              </a:spcBef>
              <a:spcAft>
                <a:spcPts val="0"/>
              </a:spcAft>
              <a:buClr>
                <a:srgbClr val="000000"/>
              </a:buClr>
              <a:buSzPts val="1100"/>
              <a:buFont typeface="Arial" panose="020B0604020202090204"/>
              <a:buChar char="○"/>
              <a:defRPr sz="11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L="1371600" marR="0" lvl="2" indent="-298450" algn="l" rtl="0">
              <a:lnSpc>
                <a:spcPct val="100000"/>
              </a:lnSpc>
              <a:spcBef>
                <a:spcPts val="0"/>
              </a:spcBef>
              <a:spcAft>
                <a:spcPts val="0"/>
              </a:spcAft>
              <a:buClr>
                <a:srgbClr val="000000"/>
              </a:buClr>
              <a:buSzPts val="1100"/>
              <a:buFont typeface="Arial" panose="020B0604020202090204"/>
              <a:buChar char="■"/>
              <a:defRPr sz="11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L="1828800" marR="0" lvl="3" indent="-298450" algn="l" rtl="0">
              <a:lnSpc>
                <a:spcPct val="100000"/>
              </a:lnSpc>
              <a:spcBef>
                <a:spcPts val="0"/>
              </a:spcBef>
              <a:spcAft>
                <a:spcPts val="0"/>
              </a:spcAft>
              <a:buClr>
                <a:srgbClr val="000000"/>
              </a:buClr>
              <a:buSzPts val="1100"/>
              <a:buFont typeface="Arial" panose="020B0604020202090204"/>
              <a:buChar char="●"/>
              <a:defRPr sz="11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L="2286000" marR="0" lvl="4" indent="-298450" algn="l" rtl="0">
              <a:lnSpc>
                <a:spcPct val="100000"/>
              </a:lnSpc>
              <a:spcBef>
                <a:spcPts val="0"/>
              </a:spcBef>
              <a:spcAft>
                <a:spcPts val="0"/>
              </a:spcAft>
              <a:buClr>
                <a:srgbClr val="000000"/>
              </a:buClr>
              <a:buSzPts val="1100"/>
              <a:buFont typeface="Arial" panose="020B0604020202090204"/>
              <a:buChar char="○"/>
              <a:defRPr sz="11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L="2743200" marR="0" lvl="5" indent="-298450" algn="l" rtl="0">
              <a:lnSpc>
                <a:spcPct val="100000"/>
              </a:lnSpc>
              <a:spcBef>
                <a:spcPts val="0"/>
              </a:spcBef>
              <a:spcAft>
                <a:spcPts val="0"/>
              </a:spcAft>
              <a:buClr>
                <a:srgbClr val="000000"/>
              </a:buClr>
              <a:buSzPts val="1100"/>
              <a:buFont typeface="Arial" panose="020B0604020202090204"/>
              <a:buChar char="■"/>
              <a:defRPr sz="11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L="3200400" marR="0" lvl="6" indent="-298450" algn="l" rtl="0">
              <a:lnSpc>
                <a:spcPct val="100000"/>
              </a:lnSpc>
              <a:spcBef>
                <a:spcPts val="0"/>
              </a:spcBef>
              <a:spcAft>
                <a:spcPts val="0"/>
              </a:spcAft>
              <a:buClr>
                <a:srgbClr val="000000"/>
              </a:buClr>
              <a:buSzPts val="1100"/>
              <a:buFont typeface="Arial" panose="020B0604020202090204"/>
              <a:buChar char="●"/>
              <a:defRPr sz="11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L="3657600" marR="0" lvl="7" indent="-298450" algn="l" rtl="0">
              <a:lnSpc>
                <a:spcPct val="100000"/>
              </a:lnSpc>
              <a:spcBef>
                <a:spcPts val="0"/>
              </a:spcBef>
              <a:spcAft>
                <a:spcPts val="0"/>
              </a:spcAft>
              <a:buClr>
                <a:srgbClr val="000000"/>
              </a:buClr>
              <a:buSzPts val="1100"/>
              <a:buFont typeface="Arial" panose="020B0604020202090204"/>
              <a:buChar char="○"/>
              <a:defRPr sz="11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L="4114800" marR="0" lvl="8" indent="-298450" algn="l" rtl="0">
              <a:lnSpc>
                <a:spcPct val="100000"/>
              </a:lnSpc>
              <a:spcBef>
                <a:spcPts val="0"/>
              </a:spcBef>
              <a:spcAft>
                <a:spcPts val="0"/>
              </a:spcAft>
              <a:buClr>
                <a:srgbClr val="000000"/>
              </a:buClr>
              <a:buSzPts val="1100"/>
              <a:buFont typeface="Arial" panose="020B0604020202090204"/>
              <a:buChar char="■"/>
              <a:defRPr sz="11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a:lstStyle>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74" name="Shape 74"/>
        <p:cNvGrpSpPr/>
        <p:nvPr/>
      </p:nvGrpSpPr>
      <p:grpSpPr>
        <a:xfrm>
          <a:off x="0" y="0"/>
          <a:ext cx="0" cy="0"/>
          <a:chOff x="0" y="0"/>
          <a:chExt cx="0" cy="0"/>
        </a:xfrm>
      </p:grpSpPr>
      <p:sp>
        <p:nvSpPr>
          <p:cNvPr id="75" name="Google Shape;75;p33:notes"/>
          <p:cNvSpPr txBox="1"/>
          <p:nvPr>
            <p:ph type="body" idx="1"/>
          </p:nvPr>
        </p:nvSpPr>
        <p:spPr>
          <a:xfrm>
            <a:off x="914400" y="3257550"/>
            <a:ext cx="73152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76" name="Google Shape;76;p33:notes"/>
          <p:cNvSpPr/>
          <p:nvPr>
            <p:ph type="sldImg" idx="2"/>
          </p:nvPr>
        </p:nvSpPr>
        <p:spPr>
          <a:xfrm>
            <a:off x="2857866" y="514350"/>
            <a:ext cx="3429169"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80" name="Shape 80"/>
        <p:cNvGrpSpPr/>
        <p:nvPr/>
      </p:nvGrpSpPr>
      <p:grpSpPr>
        <a:xfrm>
          <a:off x="0" y="0"/>
          <a:ext cx="0" cy="0"/>
          <a:chOff x="0" y="0"/>
          <a:chExt cx="0" cy="0"/>
        </a:xfrm>
      </p:grpSpPr>
      <p:sp>
        <p:nvSpPr>
          <p:cNvPr id="81" name="Google Shape;81;p2:notes"/>
          <p:cNvSpPr txBox="1"/>
          <p:nvPr>
            <p:ph type="body" idx="1"/>
          </p:nvPr>
        </p:nvSpPr>
        <p:spPr>
          <a:xfrm>
            <a:off x="914400" y="3257550"/>
            <a:ext cx="73152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
        <p:nvSpPr>
          <p:cNvPr id="82" name="Google Shape;82;p2:notes"/>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91" name="Shape 91"/>
        <p:cNvGrpSpPr/>
        <p:nvPr/>
      </p:nvGrpSpPr>
      <p:grpSpPr>
        <a:xfrm>
          <a:off x="0" y="0"/>
          <a:ext cx="0" cy="0"/>
          <a:chOff x="0" y="0"/>
          <a:chExt cx="0" cy="0"/>
        </a:xfrm>
      </p:grpSpPr>
      <p:sp>
        <p:nvSpPr>
          <p:cNvPr id="92" name="Google Shape;92;p34:notes"/>
          <p:cNvSpPr txBox="1"/>
          <p:nvPr>
            <p:ph type="body" idx="1"/>
          </p:nvPr>
        </p:nvSpPr>
        <p:spPr>
          <a:xfrm>
            <a:off x="914400" y="3257550"/>
            <a:ext cx="73152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
        <p:nvSpPr>
          <p:cNvPr id="93" name="Google Shape;93;p34:notes"/>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97" name="Shape 97"/>
        <p:cNvGrpSpPr/>
        <p:nvPr/>
      </p:nvGrpSpPr>
      <p:grpSpPr>
        <a:xfrm>
          <a:off x="0" y="0"/>
          <a:ext cx="0" cy="0"/>
          <a:chOff x="0" y="0"/>
          <a:chExt cx="0" cy="0"/>
        </a:xfrm>
      </p:grpSpPr>
      <p:sp>
        <p:nvSpPr>
          <p:cNvPr id="98" name="Google Shape;98;p35:notes"/>
          <p:cNvSpPr txBox="1"/>
          <p:nvPr>
            <p:ph type="body" idx="1"/>
          </p:nvPr>
        </p:nvSpPr>
        <p:spPr>
          <a:xfrm>
            <a:off x="914400" y="3257550"/>
            <a:ext cx="73152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
        <p:nvSpPr>
          <p:cNvPr id="99" name="Google Shape;99;p35:notes"/>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3" name="Shape 103"/>
        <p:cNvGrpSpPr/>
        <p:nvPr/>
      </p:nvGrpSpPr>
      <p:grpSpPr>
        <a:xfrm>
          <a:off x="0" y="0"/>
          <a:ext cx="0" cy="0"/>
          <a:chOff x="0" y="0"/>
          <a:chExt cx="0" cy="0"/>
        </a:xfrm>
      </p:grpSpPr>
      <p:sp>
        <p:nvSpPr>
          <p:cNvPr id="104" name="Google Shape;104;p36:notes"/>
          <p:cNvSpPr txBox="1"/>
          <p:nvPr>
            <p:ph type="body" idx="1"/>
          </p:nvPr>
        </p:nvSpPr>
        <p:spPr>
          <a:xfrm>
            <a:off x="914400" y="3257550"/>
            <a:ext cx="73152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
        <p:nvSpPr>
          <p:cNvPr id="105" name="Google Shape;105;p36:notes"/>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9" name="Shape 109"/>
        <p:cNvGrpSpPr/>
        <p:nvPr/>
      </p:nvGrpSpPr>
      <p:grpSpPr>
        <a:xfrm>
          <a:off x="0" y="0"/>
          <a:ext cx="0" cy="0"/>
          <a:chOff x="0" y="0"/>
          <a:chExt cx="0" cy="0"/>
        </a:xfrm>
      </p:grpSpPr>
      <p:sp>
        <p:nvSpPr>
          <p:cNvPr id="110" name="Google Shape;110;p37:notes"/>
          <p:cNvSpPr txBox="1"/>
          <p:nvPr>
            <p:ph type="body" idx="1"/>
          </p:nvPr>
        </p:nvSpPr>
        <p:spPr>
          <a:xfrm>
            <a:off x="914400" y="3257550"/>
            <a:ext cx="73152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
        <p:nvSpPr>
          <p:cNvPr id="111" name="Google Shape;111;p37:notes"/>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21" name="Shape 121"/>
        <p:cNvGrpSpPr/>
        <p:nvPr/>
      </p:nvGrpSpPr>
      <p:grpSpPr>
        <a:xfrm>
          <a:off x="0" y="0"/>
          <a:ext cx="0" cy="0"/>
          <a:chOff x="0" y="0"/>
          <a:chExt cx="0" cy="0"/>
        </a:xfrm>
      </p:grpSpPr>
      <p:sp>
        <p:nvSpPr>
          <p:cNvPr id="122" name="Google Shape;122;p38:notes"/>
          <p:cNvSpPr txBox="1"/>
          <p:nvPr>
            <p:ph type="body" idx="1"/>
          </p:nvPr>
        </p:nvSpPr>
        <p:spPr>
          <a:xfrm>
            <a:off x="914400" y="3257550"/>
            <a:ext cx="73152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
        <p:nvSpPr>
          <p:cNvPr id="123" name="Google Shape;123;p38:notes"/>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27" name="Shape 127"/>
        <p:cNvGrpSpPr/>
        <p:nvPr/>
      </p:nvGrpSpPr>
      <p:grpSpPr>
        <a:xfrm>
          <a:off x="0" y="0"/>
          <a:ext cx="0" cy="0"/>
          <a:chOff x="0" y="0"/>
          <a:chExt cx="0" cy="0"/>
        </a:xfrm>
      </p:grpSpPr>
      <p:sp>
        <p:nvSpPr>
          <p:cNvPr id="128" name="Google Shape;128;p7:notes"/>
          <p:cNvSpPr txBox="1"/>
          <p:nvPr>
            <p:ph type="body" idx="1"/>
          </p:nvPr>
        </p:nvSpPr>
        <p:spPr>
          <a:xfrm>
            <a:off x="914400" y="3257550"/>
            <a:ext cx="73152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
        <p:nvSpPr>
          <p:cNvPr id="129" name="Google Shape;129;p7:notes"/>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33" name="Shape 133"/>
        <p:cNvGrpSpPr/>
        <p:nvPr/>
      </p:nvGrpSpPr>
      <p:grpSpPr>
        <a:xfrm>
          <a:off x="0" y="0"/>
          <a:ext cx="0" cy="0"/>
          <a:chOff x="0" y="0"/>
          <a:chExt cx="0" cy="0"/>
        </a:xfrm>
      </p:grpSpPr>
      <p:sp>
        <p:nvSpPr>
          <p:cNvPr id="134" name="Google Shape;134;p9:notes"/>
          <p:cNvSpPr txBox="1"/>
          <p:nvPr>
            <p:ph type="body" idx="1"/>
          </p:nvPr>
        </p:nvSpPr>
        <p:spPr>
          <a:xfrm>
            <a:off x="914400" y="3257550"/>
            <a:ext cx="73152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
        <p:nvSpPr>
          <p:cNvPr id="135" name="Google Shape;135;p9:notes"/>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53" name="Shape 153"/>
        <p:cNvGrpSpPr/>
        <p:nvPr/>
      </p:nvGrpSpPr>
      <p:grpSpPr>
        <a:xfrm>
          <a:off x="0" y="0"/>
          <a:ext cx="0" cy="0"/>
          <a:chOff x="0" y="0"/>
          <a:chExt cx="0" cy="0"/>
        </a:xfrm>
      </p:grpSpPr>
      <p:sp>
        <p:nvSpPr>
          <p:cNvPr id="154" name="Google Shape;154;p40:notes"/>
          <p:cNvSpPr txBox="1"/>
          <p:nvPr>
            <p:ph type="body" idx="1"/>
          </p:nvPr>
        </p:nvSpPr>
        <p:spPr>
          <a:xfrm>
            <a:off x="914400" y="3257550"/>
            <a:ext cx="73152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
        <p:nvSpPr>
          <p:cNvPr id="155" name="Google Shape;155;p40:notes"/>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59" name="Shape 159"/>
        <p:cNvGrpSpPr/>
        <p:nvPr/>
      </p:nvGrpSpPr>
      <p:grpSpPr>
        <a:xfrm>
          <a:off x="0" y="0"/>
          <a:ext cx="0" cy="0"/>
          <a:chOff x="0" y="0"/>
          <a:chExt cx="0" cy="0"/>
        </a:xfrm>
      </p:grpSpPr>
      <p:sp>
        <p:nvSpPr>
          <p:cNvPr id="160" name="Google Shape;160;p41:notes"/>
          <p:cNvSpPr txBox="1"/>
          <p:nvPr>
            <p:ph type="body" idx="1"/>
          </p:nvPr>
        </p:nvSpPr>
        <p:spPr>
          <a:xfrm>
            <a:off x="914400" y="3257550"/>
            <a:ext cx="73152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
        <p:nvSpPr>
          <p:cNvPr id="161" name="Google Shape;161;p41:notes"/>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68" name="Shape 168"/>
        <p:cNvGrpSpPr/>
        <p:nvPr/>
      </p:nvGrpSpPr>
      <p:grpSpPr>
        <a:xfrm>
          <a:off x="0" y="0"/>
          <a:ext cx="0" cy="0"/>
          <a:chOff x="0" y="0"/>
          <a:chExt cx="0" cy="0"/>
        </a:xfrm>
      </p:grpSpPr>
      <p:sp>
        <p:nvSpPr>
          <p:cNvPr id="169" name="Google Shape;169;p42:notes"/>
          <p:cNvSpPr txBox="1"/>
          <p:nvPr>
            <p:ph type="body" idx="1"/>
          </p:nvPr>
        </p:nvSpPr>
        <p:spPr>
          <a:xfrm>
            <a:off x="914400" y="3257550"/>
            <a:ext cx="73152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
        <p:nvSpPr>
          <p:cNvPr id="170" name="Google Shape;170;p42:notes"/>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77" name="Shape 177"/>
        <p:cNvGrpSpPr/>
        <p:nvPr/>
      </p:nvGrpSpPr>
      <p:grpSpPr>
        <a:xfrm>
          <a:off x="0" y="0"/>
          <a:ext cx="0" cy="0"/>
          <a:chOff x="0" y="0"/>
          <a:chExt cx="0" cy="0"/>
        </a:xfrm>
      </p:grpSpPr>
      <p:sp>
        <p:nvSpPr>
          <p:cNvPr id="178" name="Google Shape;178;p43:notes"/>
          <p:cNvSpPr txBox="1"/>
          <p:nvPr>
            <p:ph type="body" idx="1"/>
          </p:nvPr>
        </p:nvSpPr>
        <p:spPr>
          <a:xfrm>
            <a:off x="914400" y="3257550"/>
            <a:ext cx="73152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79" name="Google Shape;179;p43:notes"/>
          <p:cNvSpPr/>
          <p:nvPr>
            <p:ph type="sldImg" idx="2"/>
          </p:nvPr>
        </p:nvSpPr>
        <p:spPr>
          <a:xfrm>
            <a:off x="2857866" y="514350"/>
            <a:ext cx="3429169"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84" name="Shape 184"/>
        <p:cNvGrpSpPr/>
        <p:nvPr/>
      </p:nvGrpSpPr>
      <p:grpSpPr>
        <a:xfrm>
          <a:off x="0" y="0"/>
          <a:ext cx="0" cy="0"/>
          <a:chOff x="0" y="0"/>
          <a:chExt cx="0" cy="0"/>
        </a:xfrm>
      </p:grpSpPr>
      <p:sp>
        <p:nvSpPr>
          <p:cNvPr id="185" name="Google Shape;185;p44:notes"/>
          <p:cNvSpPr txBox="1"/>
          <p:nvPr>
            <p:ph type="body" idx="1"/>
          </p:nvPr>
        </p:nvSpPr>
        <p:spPr>
          <a:xfrm>
            <a:off x="914400" y="3257550"/>
            <a:ext cx="73152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86" name="Google Shape;186;p44:notes"/>
          <p:cNvSpPr/>
          <p:nvPr>
            <p:ph type="sldImg" idx="2"/>
          </p:nvPr>
        </p:nvSpPr>
        <p:spPr>
          <a:xfrm>
            <a:off x="2857866" y="514350"/>
            <a:ext cx="3429169"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91" name="Shape 191"/>
        <p:cNvGrpSpPr/>
        <p:nvPr/>
      </p:nvGrpSpPr>
      <p:grpSpPr>
        <a:xfrm>
          <a:off x="0" y="0"/>
          <a:ext cx="0" cy="0"/>
          <a:chOff x="0" y="0"/>
          <a:chExt cx="0" cy="0"/>
        </a:xfrm>
      </p:grpSpPr>
      <p:sp>
        <p:nvSpPr>
          <p:cNvPr id="192" name="Google Shape;192;p20:notes"/>
          <p:cNvSpPr txBox="1"/>
          <p:nvPr>
            <p:ph type="body" idx="1"/>
          </p:nvPr>
        </p:nvSpPr>
        <p:spPr>
          <a:xfrm>
            <a:off x="914400" y="3257550"/>
            <a:ext cx="73152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
        <p:nvSpPr>
          <p:cNvPr id="193" name="Google Shape;193;p20:notes"/>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11" name="Shape 11"/>
        <p:cNvGrpSpPr/>
        <p:nvPr/>
      </p:nvGrpSpPr>
      <p:grpSpPr>
        <a:xfrm>
          <a:off x="0" y="0"/>
          <a:ext cx="0" cy="0"/>
          <a:chOff x="0" y="0"/>
          <a:chExt cx="0" cy="0"/>
        </a:xfrm>
      </p:grpSpPr>
      <p:sp>
        <p:nvSpPr>
          <p:cNvPr id="12" name="Google Shape;12;p24"/>
          <p:cNvSpPr txBox="1"/>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24"/>
          <p:cNvSpPr txBox="1"/>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p:txBody>
      </p:sp>
      <p:sp>
        <p:nvSpPr>
          <p:cNvPr id="14" name="Google Shape;14;p24"/>
          <p:cNvSpPr txBox="1"/>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 name="Google Shape;15;p24"/>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 name="Google Shape;16;p24"/>
          <p:cNvSpPr txBox="1"/>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Title and Content">
  <p:cSld name="OBJECT">
    <p:spTree>
      <p:nvGrpSpPr>
        <p:cNvPr id="17" name="Shape 17"/>
        <p:cNvGrpSpPr/>
        <p:nvPr/>
      </p:nvGrpSpPr>
      <p:grpSpPr>
        <a:xfrm>
          <a:off x="0" y="0"/>
          <a:ext cx="0" cy="0"/>
          <a:chOff x="0" y="0"/>
          <a:chExt cx="0" cy="0"/>
        </a:xfrm>
      </p:grpSpPr>
      <p:sp>
        <p:nvSpPr>
          <p:cNvPr id="18" name="Google Shape;18;p23"/>
          <p:cNvSpPr txBox="1"/>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23"/>
          <p:cNvSpPr txBox="1"/>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20" name="Google Shape;20;p23"/>
          <p:cNvSpPr txBox="1"/>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23"/>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23"/>
          <p:cNvSpPr txBox="1"/>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matchingName="Two Content">
  <p:cSld name="TWO_OBJECTS">
    <p:spTree>
      <p:nvGrpSpPr>
        <p:cNvPr id="23" name="Shape 23"/>
        <p:cNvGrpSpPr/>
        <p:nvPr/>
      </p:nvGrpSpPr>
      <p:grpSpPr>
        <a:xfrm>
          <a:off x="0" y="0"/>
          <a:ext cx="0" cy="0"/>
          <a:chOff x="0" y="0"/>
          <a:chExt cx="0" cy="0"/>
        </a:xfrm>
      </p:grpSpPr>
      <p:sp>
        <p:nvSpPr>
          <p:cNvPr id="24" name="Google Shape;24;p25"/>
          <p:cNvSpPr txBox="1"/>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25"/>
          <p:cNvSpPr txBox="1"/>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26" name="Google Shape;26;p25"/>
          <p:cNvSpPr txBox="1"/>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27" name="Google Shape;27;p25"/>
          <p:cNvSpPr txBox="1"/>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25"/>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25"/>
          <p:cNvSpPr txBox="1"/>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matchingName="Comparison">
  <p:cSld name="TWO_OBJECTS_WITH_TEXT">
    <p:spTree>
      <p:nvGrpSpPr>
        <p:cNvPr id="30" name="Shape 30"/>
        <p:cNvGrpSpPr/>
        <p:nvPr/>
      </p:nvGrpSpPr>
      <p:grpSpPr>
        <a:xfrm>
          <a:off x="0" y="0"/>
          <a:ext cx="0" cy="0"/>
          <a:chOff x="0" y="0"/>
          <a:chExt cx="0" cy="0"/>
        </a:xfrm>
      </p:grpSpPr>
      <p:sp>
        <p:nvSpPr>
          <p:cNvPr id="31" name="Google Shape;31;p26"/>
          <p:cNvSpPr txBox="1"/>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26"/>
          <p:cNvSpPr txBox="1"/>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p:txBody>
      </p:sp>
      <p:sp>
        <p:nvSpPr>
          <p:cNvPr id="33" name="Google Shape;33;p26"/>
          <p:cNvSpPr txBox="1"/>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34" name="Google Shape;34;p26"/>
          <p:cNvSpPr txBox="1"/>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p:txBody>
      </p:sp>
      <p:sp>
        <p:nvSpPr>
          <p:cNvPr id="35" name="Google Shape;35;p26"/>
          <p:cNvSpPr txBox="1"/>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36" name="Google Shape;36;p26"/>
          <p:cNvSpPr txBox="1"/>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26"/>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26"/>
          <p:cNvSpPr txBox="1"/>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39" name="Shape 39"/>
        <p:cNvGrpSpPr/>
        <p:nvPr/>
      </p:nvGrpSpPr>
      <p:grpSpPr>
        <a:xfrm>
          <a:off x="0" y="0"/>
          <a:ext cx="0" cy="0"/>
          <a:chOff x="0" y="0"/>
          <a:chExt cx="0" cy="0"/>
        </a:xfrm>
      </p:grpSpPr>
      <p:sp>
        <p:nvSpPr>
          <p:cNvPr id="40" name="Google Shape;40;p27"/>
          <p:cNvSpPr txBox="1"/>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27"/>
          <p:cNvSpPr txBox="1"/>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27"/>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27"/>
          <p:cNvSpPr txBox="1"/>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44" name="Shape 44"/>
        <p:cNvGrpSpPr/>
        <p:nvPr/>
      </p:nvGrpSpPr>
      <p:grpSpPr>
        <a:xfrm>
          <a:off x="0" y="0"/>
          <a:ext cx="0" cy="0"/>
          <a:chOff x="0" y="0"/>
          <a:chExt cx="0" cy="0"/>
        </a:xfrm>
      </p:grpSpPr>
      <p:sp>
        <p:nvSpPr>
          <p:cNvPr id="45" name="Google Shape;45;p28"/>
          <p:cNvSpPr txBox="1"/>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28"/>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28"/>
          <p:cNvSpPr txBox="1"/>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matchingName="Content with Caption">
  <p:cSld name="OBJECT_WITH_CAPTION_TEXT">
    <p:spTree>
      <p:nvGrpSpPr>
        <p:cNvPr id="48" name="Shape 48"/>
        <p:cNvGrpSpPr/>
        <p:nvPr/>
      </p:nvGrpSpPr>
      <p:grpSpPr>
        <a:xfrm>
          <a:off x="0" y="0"/>
          <a:ext cx="0" cy="0"/>
          <a:chOff x="0" y="0"/>
          <a:chExt cx="0" cy="0"/>
        </a:xfrm>
      </p:grpSpPr>
      <p:sp>
        <p:nvSpPr>
          <p:cNvPr id="49" name="Google Shape;49;p29"/>
          <p:cNvSpPr txBox="1"/>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0" name="Google Shape;50;p29"/>
          <p:cNvSpPr txBox="1"/>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p:txBody>
      </p:sp>
      <p:sp>
        <p:nvSpPr>
          <p:cNvPr id="51" name="Google Shape;51;p29"/>
          <p:cNvSpPr txBox="1"/>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p:txBody>
      </p:sp>
      <p:sp>
        <p:nvSpPr>
          <p:cNvPr id="52" name="Google Shape;52;p29"/>
          <p:cNvSpPr txBox="1"/>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29"/>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 name="Google Shape;54;p29"/>
          <p:cNvSpPr txBox="1"/>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matchingName="Picture with Caption">
  <p:cSld name="PICTURE_WITH_CAPTION_TEXT">
    <p:spTree>
      <p:nvGrpSpPr>
        <p:cNvPr id="55" name="Shape 55"/>
        <p:cNvGrpSpPr/>
        <p:nvPr/>
      </p:nvGrpSpPr>
      <p:grpSpPr>
        <a:xfrm>
          <a:off x="0" y="0"/>
          <a:ext cx="0" cy="0"/>
          <a:chOff x="0" y="0"/>
          <a:chExt cx="0" cy="0"/>
        </a:xfrm>
      </p:grpSpPr>
      <p:sp>
        <p:nvSpPr>
          <p:cNvPr id="56" name="Google Shape;56;p30"/>
          <p:cNvSpPr txBox="1"/>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30"/>
          <p:cNvSpPr/>
          <p:nvPr>
            <p:ph type="pic" idx="2"/>
          </p:nvPr>
        </p:nvSpPr>
        <p:spPr>
          <a:xfrm>
            <a:off x="5183188" y="987425"/>
            <a:ext cx="6172200" cy="4873625"/>
          </a:xfrm>
          <a:prstGeom prst="rect">
            <a:avLst/>
          </a:prstGeom>
          <a:noFill/>
          <a:ln>
            <a:noFill/>
          </a:ln>
        </p:spPr>
      </p:sp>
      <p:sp>
        <p:nvSpPr>
          <p:cNvPr id="58" name="Google Shape;58;p30"/>
          <p:cNvSpPr txBox="1"/>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p:txBody>
      </p:sp>
      <p:sp>
        <p:nvSpPr>
          <p:cNvPr id="59" name="Google Shape;59;p30"/>
          <p:cNvSpPr txBox="1"/>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30"/>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 name="Google Shape;61;p30"/>
          <p:cNvSpPr txBox="1"/>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matchingName="Title and Vertical Text">
  <p:cSld name="VERTICAL_TEXT">
    <p:spTree>
      <p:nvGrpSpPr>
        <p:cNvPr id="62" name="Shape 62"/>
        <p:cNvGrpSpPr/>
        <p:nvPr/>
      </p:nvGrpSpPr>
      <p:grpSpPr>
        <a:xfrm>
          <a:off x="0" y="0"/>
          <a:ext cx="0" cy="0"/>
          <a:chOff x="0" y="0"/>
          <a:chExt cx="0" cy="0"/>
        </a:xfrm>
      </p:grpSpPr>
      <p:sp>
        <p:nvSpPr>
          <p:cNvPr id="63" name="Google Shape;63;p31"/>
          <p:cNvSpPr txBox="1"/>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31"/>
          <p:cNvSpPr txBox="1"/>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65" name="Google Shape;65;p31"/>
          <p:cNvSpPr txBox="1"/>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31"/>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31"/>
          <p:cNvSpPr txBox="1"/>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matchingName="Vertical Title and Text">
  <p:cSld name="VERTICAL_TITLE_AND_VERTICAL_TEXT">
    <p:spTree>
      <p:nvGrpSpPr>
        <p:cNvPr id="68" name="Shape 68"/>
        <p:cNvGrpSpPr/>
        <p:nvPr/>
      </p:nvGrpSpPr>
      <p:grpSpPr>
        <a:xfrm>
          <a:off x="0" y="0"/>
          <a:ext cx="0" cy="0"/>
          <a:chOff x="0" y="0"/>
          <a:chExt cx="0" cy="0"/>
        </a:xfrm>
      </p:grpSpPr>
      <p:sp>
        <p:nvSpPr>
          <p:cNvPr id="69" name="Google Shape;69;p32"/>
          <p:cNvSpPr txBox="1"/>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32"/>
          <p:cNvSpPr txBox="1"/>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71" name="Google Shape;71;p32"/>
          <p:cNvSpPr txBox="1"/>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32"/>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32"/>
          <p:cNvSpPr txBox="1"/>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1" Type="http://schemas.openxmlformats.org/officeDocument/2006/relationships/theme" Target="../theme/theme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Google Shape;6;p21"/>
          <p:cNvSpPr txBox="1"/>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panose="020B0604020202090204"/>
              <a:buNone/>
              <a:defRPr sz="18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SzPts val="1400"/>
              <a:buFont typeface="Arial" panose="020B0604020202090204"/>
              <a:buNone/>
              <a:defRPr sz="18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SzPts val="1400"/>
              <a:buFont typeface="Arial" panose="020B0604020202090204"/>
              <a:buNone/>
              <a:defRPr sz="18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SzPts val="1400"/>
              <a:buFont typeface="Arial" panose="020B0604020202090204"/>
              <a:buNone/>
              <a:defRPr sz="18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SzPts val="1400"/>
              <a:buFont typeface="Arial" panose="020B0604020202090204"/>
              <a:buNone/>
              <a:defRPr sz="18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SzPts val="1400"/>
              <a:buFont typeface="Arial" panose="020B0604020202090204"/>
              <a:buNone/>
              <a:defRPr sz="18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SzPts val="1400"/>
              <a:buFont typeface="Arial" panose="020B0604020202090204"/>
              <a:buNone/>
              <a:defRPr sz="18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SzPts val="1400"/>
              <a:buFont typeface="Arial" panose="020B0604020202090204"/>
              <a:buNone/>
              <a:defRPr sz="18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a:lstStyle>
          <a:p/>
        </p:txBody>
      </p:sp>
      <p:sp>
        <p:nvSpPr>
          <p:cNvPr id="7" name="Google Shape;7;p21"/>
          <p:cNvSpPr txBox="1"/>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panose="020B0604020202090204"/>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panose="020B0604020202090204"/>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panose="020B0604020202090204"/>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panose="020B0604020202090204"/>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panose="020B0604020202090204"/>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panose="020B0604020202090204"/>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panose="020B0604020202090204"/>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panose="020B0604020202090204"/>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panose="020B0604020202090204"/>
              <a:buChar char="•"/>
              <a:defRPr sz="1800" b="0" i="0" u="none" strike="noStrike" cap="none">
                <a:solidFill>
                  <a:schemeClr val="dk1"/>
                </a:solidFill>
                <a:latin typeface="Calibri"/>
                <a:ea typeface="Calibri"/>
                <a:cs typeface="Calibri"/>
                <a:sym typeface="Calibri"/>
              </a:defRPr>
            </a:lvl9pPr>
          </a:lstStyle>
          <a:p/>
        </p:txBody>
      </p:sp>
      <p:sp>
        <p:nvSpPr>
          <p:cNvPr id="8" name="Google Shape;8;p21"/>
          <p:cNvSpPr txBox="1"/>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panose="020B0604020202090204"/>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9pPr>
          </a:lstStyle>
          <a:p/>
        </p:txBody>
      </p:sp>
      <p:sp>
        <p:nvSpPr>
          <p:cNvPr id="9" name="Google Shape;9;p21"/>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panose="020B0604020202090204"/>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9pPr>
          </a:lstStyle>
          <a:p/>
        </p:txBody>
      </p:sp>
      <p:sp>
        <p:nvSpPr>
          <p:cNvPr id="10" name="Google Shape;10;p21"/>
          <p:cNvSpPr txBox="1"/>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xml"/><Relationship Id="rId1" Type="http://schemas.openxmlformats.org/officeDocument/2006/relationships/image" Target="../media/image4.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77" name="Shape 77"/>
        <p:cNvGrpSpPr/>
        <p:nvPr/>
      </p:nvGrpSpPr>
      <p:grpSpPr>
        <a:xfrm>
          <a:off x="0" y="0"/>
          <a:ext cx="0" cy="0"/>
          <a:chOff x="0" y="0"/>
          <a:chExt cx="0" cy="0"/>
        </a:xfrm>
      </p:grpSpPr>
      <p:sp>
        <p:nvSpPr>
          <p:cNvPr id="78" name="Google Shape;78;p33"/>
          <p:cNvSpPr txBox="1"/>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SzPts val="6000"/>
              <a:buNone/>
            </a:pPr>
            <a:r>
              <a:rPr lang="en-US" sz="6600" b="1"/>
              <a:t>IBM University Engagement Project Submission</a:t>
            </a:r>
            <a:br>
              <a:rPr lang="en-US" b="1"/>
            </a:br>
            <a:endParaRPr lang="en-US" b="1"/>
          </a:p>
        </p:txBody>
      </p:sp>
      <p:sp>
        <p:nvSpPr>
          <p:cNvPr id="79" name="Google Shape;79;p33"/>
          <p:cNvSpPr txBox="1"/>
          <p:nvPr>
            <p:ph type="body" idx="1"/>
          </p:nvPr>
        </p:nvSpPr>
        <p:spPr>
          <a:xfrm>
            <a:off x="1014730" y="3903663"/>
            <a:ext cx="10515600" cy="1500187"/>
          </a:xfrm>
          <a:prstGeom prst="rect">
            <a:avLst/>
          </a:prstGeom>
          <a:noFill/>
          <a:ln>
            <a:noFill/>
          </a:ln>
        </p:spPr>
        <p:txBody>
          <a:bodyPr spcFirstLastPara="1" wrap="square" lIns="91425" tIns="45700" rIns="91425" bIns="45700" anchor="t" anchorCtr="0">
            <a:normAutofit/>
          </a:bodyPr>
          <a:lstStyle/>
          <a:p>
            <a:pPr marL="457200" lvl="0" indent="-228600" algn="ctr" rtl="0">
              <a:lnSpc>
                <a:spcPct val="90000"/>
              </a:lnSpc>
              <a:spcBef>
                <a:spcPts val="1000"/>
              </a:spcBef>
              <a:spcAft>
                <a:spcPts val="0"/>
              </a:spcAft>
              <a:buSzPts val="2400"/>
              <a:buNone/>
            </a:pPr>
            <a:r>
              <a:rPr lang="en-US" b="1" i="1"/>
              <a:t>“Exploring the Power of Agentic AI with IBM Granite and LangFlow”</a:t>
            </a:r>
            <a:endParaRPr lang="en-US" b="1" i="1"/>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83" name="Shape 83"/>
        <p:cNvGrpSpPr/>
        <p:nvPr/>
      </p:nvGrpSpPr>
      <p:grpSpPr>
        <a:xfrm>
          <a:off x="0" y="0"/>
          <a:ext cx="0" cy="0"/>
          <a:chOff x="0" y="0"/>
          <a:chExt cx="0" cy="0"/>
        </a:xfrm>
      </p:grpSpPr>
      <p:sp>
        <p:nvSpPr>
          <p:cNvPr id="84" name="Google Shape;84;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panose="02020503050405090304"/>
              <a:ea typeface="Times New Roman" panose="02020503050405090304"/>
              <a:cs typeface="Times New Roman" panose="02020503050405090304"/>
              <a:sym typeface="Times New Roman" panose="02020503050405090304"/>
            </a:endParaRPr>
          </a:p>
        </p:txBody>
      </p:sp>
      <p:sp>
        <p:nvSpPr>
          <p:cNvPr id="85" name="Google Shape;8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panose="02020503050405090304"/>
              <a:buNone/>
            </a:pPr>
            <a:endParaRPr sz="3200" b="1" i="0" u="none" strike="noStrike" cap="none">
              <a:solidFill>
                <a:srgbClr val="002060"/>
              </a:solidFill>
              <a:latin typeface="Times New Roman" panose="02020503050405090304"/>
              <a:ea typeface="Times New Roman" panose="02020503050405090304"/>
              <a:cs typeface="Times New Roman" panose="02020503050405090304"/>
              <a:sym typeface="Times New Roman" panose="02020503050405090304"/>
            </a:endParaRPr>
          </a:p>
        </p:txBody>
      </p:sp>
      <p:graphicFrame>
        <p:nvGraphicFramePr>
          <p:cNvPr id="86" name="Google Shape;86;p2"/>
          <p:cNvGraphicFramePr/>
          <p:nvPr/>
        </p:nvGraphicFramePr>
        <p:xfrm>
          <a:off x="1299257" y="2600315"/>
          <a:ext cx="9395000" cy="3000000"/>
        </p:xfrm>
        <a:graphic>
          <a:graphicData uri="http://schemas.openxmlformats.org/drawingml/2006/table">
            <a:tbl>
              <a:tblPr>
                <a:noFill/>
                <a:tableStyleId>{F063BE5B-8E01-4B91-9C5C-8479B17E1E5F}</a:tableStyleId>
              </a:tblPr>
              <a:tblGrid>
                <a:gridCol w="2064875"/>
                <a:gridCol w="2443375"/>
                <a:gridCol w="2443375"/>
                <a:gridCol w="2443375"/>
              </a:tblGrid>
              <a:tr h="973225">
                <a:tc>
                  <a:txBody>
                    <a:bodyPr/>
                    <a:lstStyle/>
                    <a:p>
                      <a:pPr marL="0" marR="0" lvl="0" indent="0" algn="ctr" rtl="0">
                        <a:lnSpc>
                          <a:spcPct val="100000"/>
                        </a:lnSpc>
                        <a:spcBef>
                          <a:spcPts val="0"/>
                        </a:spcBef>
                        <a:spcAft>
                          <a:spcPts val="0"/>
                        </a:spcAft>
                        <a:buClr>
                          <a:srgbClr val="000000"/>
                        </a:buClr>
                        <a:buSzPts val="1800"/>
                        <a:buFont typeface="Arial" panose="020B0604020202090204"/>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panose="020B0604020202090204"/>
                        <a:buNone/>
                      </a:pPr>
                      <a:r>
                        <a:rPr lang="en-US" sz="1800" u="none" strike="noStrike" cap="none"/>
                        <a:t>Recent Passport Photo</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panose="020B0604020202090204"/>
                        <a:buNone/>
                      </a:pPr>
                      <a:r>
                        <a:rPr lang="en-US" sz="1800" b="0" i="0" u="none" strike="noStrike" cap="none">
                          <a:solidFill>
                            <a:srgbClr val="000000"/>
                          </a:solidFill>
                          <a:latin typeface="Arial" panose="020B0604020202090204"/>
                          <a:ea typeface="Arial" panose="020B0604020202090204"/>
                          <a:cs typeface="Arial" panose="020B0604020202090204"/>
                          <a:sym typeface="Arial" panose="020B0604020202090204"/>
                        </a:rPr>
                        <a:t>Email ID </a:t>
                      </a:r>
                      <a:endParaRPr sz="1800" b="0" i="0" u="none" strike="noStrike" cap="none">
                        <a:solidFill>
                          <a:srgbClr val="000000"/>
                        </a:solidFill>
                        <a:latin typeface="Arial" panose="020B0604020202090204"/>
                        <a:ea typeface="Arial" panose="020B0604020202090204"/>
                        <a:cs typeface="Arial" panose="020B0604020202090204"/>
                        <a:sym typeface="Arial" panose="020B0604020202090204"/>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panose="020B0604020202090204"/>
                          <a:ea typeface="Arial" panose="020B0604020202090204"/>
                          <a:cs typeface="Arial" panose="020B0604020202090204"/>
                          <a:sym typeface="Arial" panose="020B0604020202090204"/>
                        </a:rPr>
                        <a:t>Mobile number</a:t>
                      </a:r>
                      <a:endParaRPr sz="1800" b="0" i="0" u="none" strike="noStrike" cap="none">
                        <a:solidFill>
                          <a:srgbClr val="000000"/>
                        </a:solidFill>
                        <a:latin typeface="Arial" panose="020B0604020202090204"/>
                        <a:ea typeface="Arial" panose="020B0604020202090204"/>
                        <a:cs typeface="Arial" panose="020B0604020202090204"/>
                        <a:sym typeface="Arial" panose="020B0604020202090204"/>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panose="020B0604020202090204"/>
                          <a:ea typeface="Arial" panose="020B0604020202090204"/>
                          <a:cs typeface="Arial" panose="020B0604020202090204"/>
                          <a:sym typeface="Arial" panose="020B0604020202090204"/>
                        </a:rPr>
                        <a:t>[WhatsApp] </a:t>
                      </a:r>
                      <a:endParaRPr sz="1800" b="0" i="0" u="none" strike="noStrike" cap="none">
                        <a:solidFill>
                          <a:srgbClr val="000000"/>
                        </a:solidFill>
                        <a:latin typeface="Arial" panose="020B0604020202090204"/>
                        <a:ea typeface="Arial" panose="020B0604020202090204"/>
                        <a:cs typeface="Arial" panose="020B0604020202090204"/>
                        <a:sym typeface="Arial" panose="020B0604020202090204"/>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r>
              <a:tr h="1193900">
                <a:tc>
                  <a:txBody>
                    <a:bodyPr/>
                    <a:lstStyle/>
                    <a:p>
                      <a:pPr marL="0" marR="0" lvl="0" indent="0" algn="l" rtl="0">
                        <a:lnSpc>
                          <a:spcPct val="100000"/>
                        </a:lnSpc>
                        <a:spcBef>
                          <a:spcPts val="0"/>
                        </a:spcBef>
                        <a:spcAft>
                          <a:spcPts val="0"/>
                        </a:spcAft>
                        <a:buClr>
                          <a:srgbClr val="000000"/>
                        </a:buClr>
                        <a:buSzPts val="1400"/>
                        <a:buFont typeface="Arial" panose="020B0604020202090204"/>
                        <a:buNone/>
                      </a:pPr>
                      <a:r>
                        <a:rPr lang="en-US" sz="2000" u="none" strike="noStrike" cap="none"/>
                        <a:t>Bhagyashree</a:t>
                      </a:r>
                      <a:endParaRPr lang="en-US" sz="2000" u="none" strike="noStrike" cap="none"/>
                    </a:p>
                    <a:p>
                      <a:pPr marL="0" marR="0" lvl="0" indent="0" algn="l" rtl="0">
                        <a:lnSpc>
                          <a:spcPct val="100000"/>
                        </a:lnSpc>
                        <a:spcBef>
                          <a:spcPts val="0"/>
                        </a:spcBef>
                        <a:spcAft>
                          <a:spcPts val="0"/>
                        </a:spcAft>
                        <a:buClr>
                          <a:srgbClr val="000000"/>
                        </a:buClr>
                        <a:buSzPts val="1400"/>
                        <a:buFont typeface="Arial" panose="020B0604020202090204"/>
                        <a:buNone/>
                      </a:pPr>
                      <a:r>
                        <a:rPr lang="en-US" sz="2000" u="none" strike="noStrike" cap="none"/>
                        <a:t>Goudar</a:t>
                      </a:r>
                      <a:endParaRPr lang="en-US" sz="20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lnSpc>
                          <a:spcPct val="100000"/>
                        </a:lnSpc>
                        <a:spcBef>
                          <a:spcPts val="0"/>
                        </a:spcBef>
                        <a:spcAft>
                          <a:spcPts val="0"/>
                        </a:spcAft>
                        <a:buClr>
                          <a:srgbClr val="000000"/>
                        </a:buClr>
                        <a:buSzPts val="1400"/>
                        <a:buFont typeface="Arial" panose="020B0604020202090204"/>
                        <a:buNone/>
                      </a:pPr>
                      <a:r>
                        <a:rPr lang="en-US" sz="2000" u="none" strike="noStrike" cap="none"/>
                        <a:t>bhagyashreegoudar439@gmail.com</a:t>
                      </a:r>
                      <a:endParaRPr lang="en-US" sz="20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lnSpc>
                          <a:spcPct val="100000"/>
                        </a:lnSpc>
                        <a:spcBef>
                          <a:spcPts val="0"/>
                        </a:spcBef>
                        <a:spcAft>
                          <a:spcPts val="0"/>
                        </a:spcAft>
                        <a:buClr>
                          <a:srgbClr val="000000"/>
                        </a:buClr>
                        <a:buSzPts val="1400"/>
                        <a:buFont typeface="Arial" panose="020B0604020202090204"/>
                        <a:buNone/>
                      </a:pPr>
                      <a:r>
                        <a:rPr lang="en-US" sz="2000" u="none" strike="noStrike" cap="none"/>
                        <a:t>9902230702</a:t>
                      </a:r>
                      <a:endParaRPr lang="en-US" sz="20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r>
            </a:tbl>
          </a:graphicData>
        </a:graphic>
      </p:graphicFrame>
      <p:sp>
        <p:nvSpPr>
          <p:cNvPr id="88" name="Google Shape;88;p2"/>
          <p:cNvSpPr txBox="1"/>
          <p:nvPr/>
        </p:nvSpPr>
        <p:spPr>
          <a:xfrm>
            <a:off x="1206164" y="1460724"/>
            <a:ext cx="10280254" cy="45910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a:solidFill>
                  <a:srgbClr val="000000"/>
                </a:solidFill>
                <a:latin typeface="Arial" panose="020B0604020202090204"/>
                <a:ea typeface="Arial" panose="020B0604020202090204"/>
                <a:cs typeface="Arial" panose="020B0604020202090204"/>
                <a:sym typeface="Arial" panose="020B0604020202090204"/>
              </a:rPr>
              <a:t>Domain of  Project – </a:t>
            </a:r>
            <a:r>
              <a:rPr lang="en-US" sz="2400" b="1" i="0" u="none" strike="noStrike" cap="none">
                <a:solidFill>
                  <a:srgbClr val="000000"/>
                </a:solidFill>
                <a:highlight>
                  <a:srgbClr val="FFFF00"/>
                </a:highlight>
                <a:latin typeface="Arial" panose="020B0604020202090204"/>
                <a:ea typeface="Arial" panose="020B0604020202090204"/>
                <a:cs typeface="Arial" panose="020B0604020202090204"/>
                <a:sym typeface="Arial" panose="020B0604020202090204"/>
              </a:rPr>
              <a:t>[ Healthcare ]</a:t>
            </a:r>
            <a:endParaRPr sz="2400" b="1" i="0" u="none" strike="noStrike" cap="none">
              <a:solidFill>
                <a:srgbClr val="000000"/>
              </a:solidFill>
              <a:highlight>
                <a:srgbClr val="FFFF00"/>
              </a:highlight>
              <a:latin typeface="Arial" panose="020B0604020202090204"/>
              <a:ea typeface="Arial" panose="020B0604020202090204"/>
              <a:cs typeface="Arial" panose="020B0604020202090204"/>
              <a:sym typeface="Arial" panose="020B0604020202090204"/>
            </a:endParaRPr>
          </a:p>
        </p:txBody>
      </p:sp>
      <p:sp>
        <p:nvSpPr>
          <p:cNvPr id="89" name="Google Shape;89;p2"/>
          <p:cNvSpPr txBox="1"/>
          <p:nvPr/>
        </p:nvSpPr>
        <p:spPr>
          <a:xfrm>
            <a:off x="1206162" y="551965"/>
            <a:ext cx="9581177" cy="45910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a:solidFill>
                  <a:srgbClr val="000000"/>
                </a:solidFill>
                <a:latin typeface="Arial" panose="020B0604020202090204"/>
                <a:ea typeface="Arial" panose="020B0604020202090204"/>
                <a:cs typeface="Arial" panose="020B0604020202090204"/>
                <a:sym typeface="Arial" panose="020B0604020202090204"/>
              </a:rPr>
              <a:t>Project Tile – </a:t>
            </a:r>
            <a:r>
              <a:rPr lang="en-US" sz="2400" b="1" i="0" u="none" strike="noStrike" cap="none">
                <a:solidFill>
                  <a:srgbClr val="000000"/>
                </a:solidFill>
                <a:highlight>
                  <a:srgbClr val="FFFF00"/>
                </a:highlight>
                <a:latin typeface="Arial" panose="020B0604020202090204"/>
                <a:ea typeface="Arial" panose="020B0604020202090204"/>
                <a:cs typeface="Arial" panose="020B0604020202090204"/>
                <a:sym typeface="Arial" panose="020B0604020202090204"/>
              </a:rPr>
              <a:t>[Nutrition Agent]</a:t>
            </a:r>
            <a:endParaRPr sz="2400" b="1" i="0" u="none" strike="noStrike" cap="none">
              <a:solidFill>
                <a:srgbClr val="000000"/>
              </a:solidFill>
              <a:highlight>
                <a:srgbClr val="FFFF00"/>
              </a:highlight>
              <a:latin typeface="Arial" panose="020B0604020202090204"/>
              <a:ea typeface="Arial" panose="020B0604020202090204"/>
              <a:cs typeface="Arial" panose="020B0604020202090204"/>
              <a:sym typeface="Arial" panose="020B0604020202090204"/>
            </a:endParaRPr>
          </a:p>
        </p:txBody>
      </p:sp>
      <p:sp>
        <p:nvSpPr>
          <p:cNvPr id="90" name="Google Shape;90;p2"/>
          <p:cNvSpPr txBox="1"/>
          <p:nvPr/>
        </p:nvSpPr>
        <p:spPr>
          <a:xfrm>
            <a:off x="1211005" y="5210667"/>
            <a:ext cx="6456743" cy="163121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000" b="0" i="0" u="none" strike="noStrike" cap="none">
                <a:solidFill>
                  <a:srgbClr val="FF0000"/>
                </a:solidFill>
                <a:latin typeface="Arial" panose="020B0604020202090204"/>
                <a:ea typeface="Arial" panose="020B0604020202090204"/>
                <a:cs typeface="Arial" panose="020B0604020202090204"/>
                <a:sym typeface="Arial" panose="020B0604020202090204"/>
              </a:rPr>
              <a:t>Recommended font style and size:</a:t>
            </a:r>
            <a:br>
              <a:rPr lang="en-US" sz="2000" b="0" i="0" u="none" strike="noStrike" cap="none">
                <a:solidFill>
                  <a:srgbClr val="FF0000"/>
                </a:solidFill>
                <a:latin typeface="Arial" panose="020B0604020202090204"/>
                <a:ea typeface="Arial" panose="020B0604020202090204"/>
                <a:cs typeface="Arial" panose="020B0604020202090204"/>
                <a:sym typeface="Arial" panose="020B0604020202090204"/>
              </a:rPr>
            </a:br>
            <a:br>
              <a:rPr lang="en-US" sz="2000" b="0" i="0" u="none" strike="noStrike" cap="none">
                <a:solidFill>
                  <a:srgbClr val="000000"/>
                </a:solidFill>
                <a:latin typeface="Arial" panose="020B0604020202090204"/>
                <a:ea typeface="Arial" panose="020B0604020202090204"/>
                <a:cs typeface="Arial" panose="020B0604020202090204"/>
                <a:sym typeface="Arial" panose="020B0604020202090204"/>
              </a:rPr>
            </a:br>
            <a:r>
              <a:rPr lang="en-US" sz="2000" b="0" i="0" u="none" strike="noStrike" cap="none">
                <a:solidFill>
                  <a:srgbClr val="FF0000"/>
                </a:solidFill>
                <a:latin typeface="Arial" panose="020B0604020202090204"/>
                <a:ea typeface="Arial" panose="020B0604020202090204"/>
                <a:cs typeface="Arial" panose="020B0604020202090204"/>
                <a:sym typeface="Arial" panose="020B0604020202090204"/>
              </a:rPr>
              <a:t>Font Style: Arial</a:t>
            </a:r>
            <a:br>
              <a:rPr lang="en-US" sz="2000" b="0" i="0" u="none" strike="noStrike" cap="none">
                <a:solidFill>
                  <a:srgbClr val="FF0000"/>
                </a:solidFill>
                <a:latin typeface="Arial" panose="020B0604020202090204"/>
                <a:ea typeface="Arial" panose="020B0604020202090204"/>
                <a:cs typeface="Arial" panose="020B0604020202090204"/>
                <a:sym typeface="Arial" panose="020B0604020202090204"/>
              </a:rPr>
            </a:br>
            <a:r>
              <a:rPr lang="en-US" sz="2000" b="0" i="0" u="none" strike="noStrike" cap="none">
                <a:solidFill>
                  <a:srgbClr val="FF0000"/>
                </a:solidFill>
                <a:latin typeface="Arial" panose="020B0604020202090204"/>
                <a:ea typeface="Arial" panose="020B0604020202090204"/>
                <a:cs typeface="Arial" panose="020B0604020202090204"/>
                <a:sym typeface="Arial" panose="020B0604020202090204"/>
              </a:rPr>
              <a:t>Font Size (Heading): 28</a:t>
            </a:r>
            <a:endParaRPr lang="en-US" sz="2000" b="0" i="0" u="none" strike="noStrike" cap="none">
              <a:solidFill>
                <a:srgbClr val="FF0000"/>
              </a:solidFill>
              <a:latin typeface="Arial" panose="020B0604020202090204"/>
              <a:ea typeface="Arial" panose="020B0604020202090204"/>
              <a:cs typeface="Arial" panose="020B0604020202090204"/>
              <a:sym typeface="Arial" panose="020B0604020202090204"/>
            </a:endParaRPr>
          </a:p>
          <a:p>
            <a:pPr marL="0" marR="0" lvl="0" indent="0" algn="l" rtl="0">
              <a:lnSpc>
                <a:spcPct val="100000"/>
              </a:lnSpc>
              <a:spcBef>
                <a:spcPts val="0"/>
              </a:spcBef>
              <a:spcAft>
                <a:spcPts val="0"/>
              </a:spcAft>
              <a:buNone/>
            </a:pPr>
            <a:r>
              <a:rPr lang="en-US" sz="2000" b="0" i="0" u="none" strike="noStrike" cap="none">
                <a:solidFill>
                  <a:srgbClr val="FF0000"/>
                </a:solidFill>
                <a:latin typeface="Arial" panose="020B0604020202090204"/>
                <a:ea typeface="Arial" panose="020B0604020202090204"/>
                <a:cs typeface="Arial" panose="020B0604020202090204"/>
                <a:sym typeface="Arial" panose="020B0604020202090204"/>
              </a:rPr>
              <a:t>Font Size (Content): 20</a:t>
            </a:r>
            <a:endParaRPr lang="en-US" sz="2000" b="0" i="0" u="none" strike="noStrike" cap="none">
              <a:solidFill>
                <a:srgbClr val="FF0000"/>
              </a:solidFill>
              <a:latin typeface="Arial" panose="020B0604020202090204"/>
              <a:ea typeface="Arial" panose="020B0604020202090204"/>
              <a:cs typeface="Arial" panose="020B0604020202090204"/>
              <a:sym typeface="Arial" panose="020B0604020202090204"/>
            </a:endParaRPr>
          </a:p>
        </p:txBody>
      </p:sp>
      <p:pic>
        <p:nvPicPr>
          <p:cNvPr id="2" name="Picture 1" descr="photo"/>
          <p:cNvPicPr>
            <a:picLocks noChangeAspect="1"/>
          </p:cNvPicPr>
          <p:nvPr/>
        </p:nvPicPr>
        <p:blipFill>
          <a:blip r:embed="rId1"/>
          <a:stretch>
            <a:fillRect/>
          </a:stretch>
        </p:blipFill>
        <p:spPr>
          <a:xfrm>
            <a:off x="4151630" y="3716655"/>
            <a:ext cx="925384" cy="9144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94" name="Shape 94"/>
        <p:cNvGrpSpPr/>
        <p:nvPr/>
      </p:nvGrpSpPr>
      <p:grpSpPr>
        <a:xfrm>
          <a:off x="0" y="0"/>
          <a:ext cx="0" cy="0"/>
          <a:chOff x="0" y="0"/>
          <a:chExt cx="0" cy="0"/>
        </a:xfrm>
      </p:grpSpPr>
      <p:sp>
        <p:nvSpPr>
          <p:cNvPr id="95" name="Google Shape;95;p34"/>
          <p:cNvSpPr txBox="1"/>
          <p:nvPr/>
        </p:nvSpPr>
        <p:spPr>
          <a:xfrm>
            <a:off x="576072" y="1234440"/>
            <a:ext cx="10607040" cy="52609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1" i="0" u="none" strike="noStrike" cap="none">
                <a:solidFill>
                  <a:srgbClr val="000000"/>
                </a:solidFill>
                <a:latin typeface="Arial" panose="020B0604020202090204"/>
                <a:ea typeface="Arial" panose="020B0604020202090204"/>
                <a:cs typeface="Arial" panose="020B0604020202090204"/>
                <a:sym typeface="Arial" panose="020B0604020202090204"/>
              </a:rPr>
              <a:t>Problem Statement : Nutrition Agent</a:t>
            </a:r>
            <a:r>
              <a:rPr lang="en-US" sz="1400" b="0" i="0" u="none" strike="noStrike" cap="none">
                <a:solidFill>
                  <a:srgbClr val="000000"/>
                </a:solidFill>
                <a:latin typeface="Arial" panose="020B0604020202090204"/>
                <a:ea typeface="Arial" panose="020B0604020202090204"/>
                <a:cs typeface="Arial" panose="020B0604020202090204"/>
                <a:sym typeface="Arial" panose="020B0604020202090204"/>
              </a:rPr>
              <a:t> </a:t>
            </a:r>
            <a:endParaRPr lang="en-US"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a:p>
            <a:pPr marL="0" marR="0" lvl="0" indent="0" algn="l" rtl="0">
              <a:lnSpc>
                <a:spcPct val="100000"/>
              </a:lnSpc>
              <a:spcBef>
                <a:spcPts val="0"/>
              </a:spcBef>
              <a:spcAft>
                <a:spcPts val="0"/>
              </a:spcAft>
              <a:buNone/>
            </a:pPr>
            <a:endParaRPr sz="1400" b="1" i="0" u="none" strike="noStrike" cap="none">
              <a:solidFill>
                <a:srgbClr val="000000"/>
              </a:solidFill>
              <a:latin typeface="Arial" panose="020B0604020202090204"/>
              <a:ea typeface="Arial" panose="020B0604020202090204"/>
              <a:cs typeface="Arial" panose="020B0604020202090204"/>
              <a:sym typeface="Arial" panose="020B0604020202090204"/>
            </a:endParaRPr>
          </a:p>
          <a:p>
            <a:pPr marL="0" marR="0" lvl="0" indent="0" algn="l" rtl="0">
              <a:lnSpc>
                <a:spcPct val="100000"/>
              </a:lnSpc>
              <a:spcBef>
                <a:spcPts val="0"/>
              </a:spcBef>
              <a:spcAft>
                <a:spcPts val="0"/>
              </a:spcAft>
              <a:buNone/>
            </a:pPr>
            <a:r>
              <a:rPr lang="en-US" sz="1400" b="1" i="0" u="none" strike="noStrike" cap="none">
                <a:solidFill>
                  <a:srgbClr val="000000"/>
                </a:solidFill>
                <a:latin typeface="Arial Bold" panose="020B0604020202090204" charset="0"/>
                <a:ea typeface="Arial" panose="020B0604020202090204"/>
                <a:cs typeface="Arial Bold" panose="020B0604020202090204" charset="0"/>
                <a:sym typeface="Arial" panose="020B0604020202090204"/>
              </a:rPr>
              <a:t>The Challenge</a:t>
            </a:r>
            <a:r>
              <a:rPr lang="en-US" sz="1400" i="0" u="none" strike="noStrike" cap="none">
                <a:solidFill>
                  <a:srgbClr val="000000"/>
                </a:solidFill>
                <a:latin typeface="Arial" panose="020B0604020202090204"/>
                <a:ea typeface="Arial" panose="020B0604020202090204"/>
                <a:cs typeface="Arial" panose="020B0604020202090204"/>
                <a:sym typeface="Arial" panose="020B0604020202090204"/>
              </a:rPr>
              <a:t> - In an era where health awareness is growing, individuals increasingly seek personalized</a:t>
            </a:r>
            <a:endParaRPr lang="en-US" sz="1400" i="0" u="none" strike="noStrike" cap="none">
              <a:solidFill>
                <a:srgbClr val="000000"/>
              </a:solidFill>
              <a:latin typeface="Arial" panose="020B0604020202090204"/>
              <a:ea typeface="Arial" panose="020B0604020202090204"/>
              <a:cs typeface="Arial" panose="020B0604020202090204"/>
              <a:sym typeface="Arial" panose="020B0604020202090204"/>
            </a:endParaRPr>
          </a:p>
          <a:p>
            <a:pPr marL="0" marR="0" lvl="0" indent="0" algn="l" rtl="0">
              <a:lnSpc>
                <a:spcPct val="100000"/>
              </a:lnSpc>
              <a:spcBef>
                <a:spcPts val="0"/>
              </a:spcBef>
              <a:spcAft>
                <a:spcPts val="0"/>
              </a:spcAft>
              <a:buNone/>
            </a:pPr>
            <a:r>
              <a:rPr lang="en-US" sz="1400" i="0" u="none" strike="noStrike" cap="none">
                <a:solidFill>
                  <a:srgbClr val="000000"/>
                </a:solidFill>
                <a:latin typeface="Arial" panose="020B0604020202090204"/>
                <a:ea typeface="Arial" panose="020B0604020202090204"/>
                <a:cs typeface="Arial" panose="020B0604020202090204"/>
                <a:sym typeface="Arial" panose="020B0604020202090204"/>
              </a:rPr>
              <a:t>nutrition guidance. However, most existing tools provide generic diet plans, lack real-time adaptability,</a:t>
            </a:r>
            <a:endParaRPr lang="en-US" sz="1400" i="0" u="none" strike="noStrike" cap="none">
              <a:solidFill>
                <a:srgbClr val="000000"/>
              </a:solidFill>
              <a:latin typeface="Arial" panose="020B0604020202090204"/>
              <a:ea typeface="Arial" panose="020B0604020202090204"/>
              <a:cs typeface="Arial" panose="020B0604020202090204"/>
              <a:sym typeface="Arial" panose="020B0604020202090204"/>
            </a:endParaRPr>
          </a:p>
          <a:p>
            <a:pPr marL="0" marR="0" lvl="0" indent="0" algn="l" rtl="0">
              <a:lnSpc>
                <a:spcPct val="100000"/>
              </a:lnSpc>
              <a:spcBef>
                <a:spcPts val="0"/>
              </a:spcBef>
              <a:spcAft>
                <a:spcPts val="0"/>
              </a:spcAft>
              <a:buNone/>
            </a:pPr>
            <a:r>
              <a:rPr lang="en-US" sz="1400" i="0" u="none" strike="noStrike" cap="none">
                <a:solidFill>
                  <a:srgbClr val="000000"/>
                </a:solidFill>
                <a:latin typeface="Arial" panose="020B0604020202090204"/>
                <a:ea typeface="Arial" panose="020B0604020202090204"/>
                <a:cs typeface="Arial" panose="020B0604020202090204"/>
                <a:sym typeface="Arial" panose="020B0604020202090204"/>
              </a:rPr>
              <a:t>and fail to consider a person's holistic lifestyle, cultural preferences, allergies, and evolving health</a:t>
            </a:r>
            <a:endParaRPr lang="en-US" sz="1400" i="0" u="none" strike="noStrike" cap="none">
              <a:solidFill>
                <a:srgbClr val="000000"/>
              </a:solidFill>
              <a:latin typeface="Arial" panose="020B0604020202090204"/>
              <a:ea typeface="Arial" panose="020B0604020202090204"/>
              <a:cs typeface="Arial" panose="020B0604020202090204"/>
              <a:sym typeface="Arial" panose="020B0604020202090204"/>
            </a:endParaRPr>
          </a:p>
          <a:p>
            <a:pPr marL="0" marR="0" lvl="0" indent="0" algn="l" rtl="0">
              <a:lnSpc>
                <a:spcPct val="100000"/>
              </a:lnSpc>
              <a:spcBef>
                <a:spcPts val="0"/>
              </a:spcBef>
              <a:spcAft>
                <a:spcPts val="0"/>
              </a:spcAft>
              <a:buNone/>
            </a:pPr>
            <a:r>
              <a:rPr lang="en-US" sz="1400" i="0" u="none" strike="noStrike" cap="none">
                <a:solidFill>
                  <a:srgbClr val="000000"/>
                </a:solidFill>
                <a:latin typeface="Arial" panose="020B0604020202090204"/>
                <a:ea typeface="Arial" panose="020B0604020202090204"/>
                <a:cs typeface="Arial" panose="020B0604020202090204"/>
                <a:sym typeface="Arial" panose="020B0604020202090204"/>
              </a:rPr>
              <a:t>conditions. Furthermore, dieticians and nutritionists face limitations in scaling personalized</a:t>
            </a:r>
            <a:endParaRPr lang="en-US" sz="1400" i="0" u="none" strike="noStrike" cap="none">
              <a:solidFill>
                <a:srgbClr val="000000"/>
              </a:solidFill>
              <a:latin typeface="Arial" panose="020B0604020202090204"/>
              <a:ea typeface="Arial" panose="020B0604020202090204"/>
              <a:cs typeface="Arial" panose="020B0604020202090204"/>
              <a:sym typeface="Arial" panose="020B0604020202090204"/>
            </a:endParaRPr>
          </a:p>
          <a:p>
            <a:pPr marL="0" marR="0" lvl="0" indent="0" algn="l" rtl="0">
              <a:lnSpc>
                <a:spcPct val="100000"/>
              </a:lnSpc>
              <a:spcBef>
                <a:spcPts val="0"/>
              </a:spcBef>
              <a:spcAft>
                <a:spcPts val="0"/>
              </a:spcAft>
              <a:buNone/>
            </a:pPr>
            <a:r>
              <a:rPr lang="en-US" sz="1400" i="0" u="none" strike="noStrike" cap="none">
                <a:solidFill>
                  <a:srgbClr val="000000"/>
                </a:solidFill>
                <a:latin typeface="Arial" panose="020B0604020202090204"/>
                <a:ea typeface="Arial" panose="020B0604020202090204"/>
                <a:cs typeface="Arial" panose="020B0604020202090204"/>
                <a:sym typeface="Arial" panose="020B0604020202090204"/>
              </a:rPr>
              <a:t>consultations due to time and resource constraints.</a:t>
            </a:r>
            <a:endParaRPr lang="en-US" sz="1400" i="0" u="none" strike="noStrike" cap="none">
              <a:solidFill>
                <a:srgbClr val="000000"/>
              </a:solidFill>
              <a:latin typeface="Arial" panose="020B0604020202090204"/>
              <a:ea typeface="Arial" panose="020B0604020202090204"/>
              <a:cs typeface="Arial" panose="020B0604020202090204"/>
              <a:sym typeface="Arial" panose="020B0604020202090204"/>
            </a:endParaRPr>
          </a:p>
          <a:p>
            <a:pPr marL="0" marR="0" lvl="0" indent="0" algn="l" rtl="0">
              <a:lnSpc>
                <a:spcPct val="100000"/>
              </a:lnSpc>
              <a:spcBef>
                <a:spcPts val="0"/>
              </a:spcBef>
              <a:spcAft>
                <a:spcPts val="0"/>
              </a:spcAft>
              <a:buNone/>
            </a:pPr>
            <a:r>
              <a:rPr lang="en-US" sz="1400" i="0" u="none" strike="noStrike" cap="none">
                <a:solidFill>
                  <a:srgbClr val="000000"/>
                </a:solidFill>
                <a:latin typeface="Arial" panose="020B0604020202090204"/>
                <a:ea typeface="Arial" panose="020B0604020202090204"/>
                <a:cs typeface="Arial" panose="020B0604020202090204"/>
                <a:sym typeface="Arial" panose="020B0604020202090204"/>
              </a:rPr>
              <a:t>Generative AI presents a groundbreaking opportunity to revolutionize this space by enabling an</a:t>
            </a:r>
            <a:endParaRPr lang="en-US" sz="1400" i="0" u="none" strike="noStrike" cap="none">
              <a:solidFill>
                <a:srgbClr val="000000"/>
              </a:solidFill>
              <a:latin typeface="Arial" panose="020B0604020202090204"/>
              <a:ea typeface="Arial" panose="020B0604020202090204"/>
              <a:cs typeface="Arial" panose="020B0604020202090204"/>
              <a:sym typeface="Arial" panose="020B0604020202090204"/>
            </a:endParaRPr>
          </a:p>
          <a:p>
            <a:pPr marL="0" marR="0" lvl="0" indent="0" algn="l" rtl="0">
              <a:lnSpc>
                <a:spcPct val="100000"/>
              </a:lnSpc>
              <a:spcBef>
                <a:spcPts val="0"/>
              </a:spcBef>
              <a:spcAft>
                <a:spcPts val="0"/>
              </a:spcAft>
              <a:buNone/>
            </a:pPr>
            <a:r>
              <a:rPr lang="en-US" sz="1400" i="0" u="none" strike="noStrike" cap="none">
                <a:solidFill>
                  <a:srgbClr val="000000"/>
                </a:solidFill>
                <a:latin typeface="Arial" panose="020B0604020202090204"/>
                <a:ea typeface="Arial" panose="020B0604020202090204"/>
                <a:cs typeface="Arial" panose="020B0604020202090204"/>
                <a:sym typeface="Arial" panose="020B0604020202090204"/>
              </a:rPr>
              <a:t>intelligent, interactive, and adaptive virtual nutrition assistant. By leveraging natural language</a:t>
            </a:r>
            <a:endParaRPr lang="en-US" sz="1400" i="0" u="none" strike="noStrike" cap="none">
              <a:solidFill>
                <a:srgbClr val="000000"/>
              </a:solidFill>
              <a:latin typeface="Arial" panose="020B0604020202090204"/>
              <a:ea typeface="Arial" panose="020B0604020202090204"/>
              <a:cs typeface="Arial" panose="020B0604020202090204"/>
              <a:sym typeface="Arial" panose="020B0604020202090204"/>
            </a:endParaRPr>
          </a:p>
          <a:p>
            <a:pPr marL="0" marR="0" lvl="0" indent="0" algn="l" rtl="0">
              <a:lnSpc>
                <a:spcPct val="100000"/>
              </a:lnSpc>
              <a:spcBef>
                <a:spcPts val="0"/>
              </a:spcBef>
              <a:spcAft>
                <a:spcPts val="0"/>
              </a:spcAft>
              <a:buNone/>
            </a:pPr>
            <a:r>
              <a:rPr lang="en-US" sz="1400" i="0" u="none" strike="noStrike" cap="none">
                <a:solidFill>
                  <a:srgbClr val="000000"/>
                </a:solidFill>
                <a:latin typeface="Arial" panose="020B0604020202090204"/>
                <a:ea typeface="Arial" panose="020B0604020202090204"/>
                <a:cs typeface="Arial" panose="020B0604020202090204"/>
                <a:sym typeface="Arial" panose="020B0604020202090204"/>
              </a:rPr>
              <a:t>processing (NLP), multimodal understanding, and large-scale dietary databases, an AI-powered assistant</a:t>
            </a:r>
            <a:endParaRPr lang="en-US" sz="1400" i="0" u="none" strike="noStrike" cap="none">
              <a:solidFill>
                <a:srgbClr val="000000"/>
              </a:solidFill>
              <a:latin typeface="Arial" panose="020B0604020202090204"/>
              <a:ea typeface="Arial" panose="020B0604020202090204"/>
              <a:cs typeface="Arial" panose="020B0604020202090204"/>
              <a:sym typeface="Arial" panose="020B0604020202090204"/>
            </a:endParaRPr>
          </a:p>
          <a:p>
            <a:pPr marL="0" marR="0" lvl="0" indent="0" algn="l" rtl="0">
              <a:lnSpc>
                <a:spcPct val="100000"/>
              </a:lnSpc>
              <a:spcBef>
                <a:spcPts val="0"/>
              </a:spcBef>
              <a:spcAft>
                <a:spcPts val="0"/>
              </a:spcAft>
              <a:buNone/>
            </a:pPr>
            <a:r>
              <a:rPr lang="en-US" sz="1400" i="0" u="none" strike="noStrike" cap="none">
                <a:solidFill>
                  <a:srgbClr val="000000"/>
                </a:solidFill>
                <a:latin typeface="Arial" panose="020B0604020202090204"/>
                <a:ea typeface="Arial" panose="020B0604020202090204"/>
                <a:cs typeface="Arial" panose="020B0604020202090204"/>
                <a:sym typeface="Arial" panose="020B0604020202090204"/>
              </a:rPr>
              <a:t>can generate dynamic meal plans, recommend smart food swaps, and explain nutritional choices—all</a:t>
            </a:r>
            <a:endParaRPr lang="en-US" sz="1400" i="0" u="none" strike="noStrike" cap="none">
              <a:solidFill>
                <a:srgbClr val="000000"/>
              </a:solidFill>
              <a:latin typeface="Arial" panose="020B0604020202090204"/>
              <a:ea typeface="Arial" panose="020B0604020202090204"/>
              <a:cs typeface="Arial" panose="020B0604020202090204"/>
              <a:sym typeface="Arial" panose="020B0604020202090204"/>
            </a:endParaRPr>
          </a:p>
          <a:p>
            <a:pPr marL="0" marR="0" lvl="0" indent="0" algn="l" rtl="0">
              <a:lnSpc>
                <a:spcPct val="100000"/>
              </a:lnSpc>
              <a:spcBef>
                <a:spcPts val="0"/>
              </a:spcBef>
              <a:spcAft>
                <a:spcPts val="0"/>
              </a:spcAft>
              <a:buNone/>
            </a:pPr>
            <a:r>
              <a:rPr lang="en-US" sz="1400" i="0" u="none" strike="noStrike" cap="none">
                <a:solidFill>
                  <a:srgbClr val="000000"/>
                </a:solidFill>
                <a:latin typeface="Arial" panose="020B0604020202090204"/>
                <a:ea typeface="Arial" panose="020B0604020202090204"/>
                <a:cs typeface="Arial" panose="020B0604020202090204"/>
                <a:sym typeface="Arial" panose="020B0604020202090204"/>
              </a:rPr>
              <a:t>tailored to the individual.</a:t>
            </a:r>
            <a:endParaRPr lang="en-US" sz="1400" i="0" u="none" strike="noStrike" cap="none">
              <a:solidFill>
                <a:srgbClr val="000000"/>
              </a:solidFill>
              <a:latin typeface="Arial" panose="020B0604020202090204"/>
              <a:ea typeface="Arial" panose="020B0604020202090204"/>
              <a:cs typeface="Arial" panose="020B0604020202090204"/>
              <a:sym typeface="Arial" panose="020B0604020202090204"/>
            </a:endParaRPr>
          </a:p>
          <a:p>
            <a:pPr marL="0" marR="0" lvl="0" indent="0" algn="l" rtl="0">
              <a:lnSpc>
                <a:spcPct val="100000"/>
              </a:lnSpc>
              <a:spcBef>
                <a:spcPts val="0"/>
              </a:spcBef>
              <a:spcAft>
                <a:spcPts val="0"/>
              </a:spcAft>
              <a:buNone/>
            </a:pPr>
            <a:endParaRPr lang="en-US" sz="1400" i="0" u="none" strike="noStrike" cap="none">
              <a:solidFill>
                <a:srgbClr val="000000"/>
              </a:solidFill>
              <a:latin typeface="Arial" panose="020B0604020202090204"/>
              <a:ea typeface="Arial" panose="020B0604020202090204"/>
              <a:cs typeface="Arial" panose="020B0604020202090204"/>
              <a:sym typeface="Arial" panose="020B0604020202090204"/>
            </a:endParaRPr>
          </a:p>
          <a:p>
            <a:pPr marL="0" marR="0" lvl="0" indent="0" algn="l" rtl="0">
              <a:lnSpc>
                <a:spcPct val="100000"/>
              </a:lnSpc>
              <a:spcBef>
                <a:spcPts val="0"/>
              </a:spcBef>
              <a:spcAft>
                <a:spcPts val="0"/>
              </a:spcAft>
              <a:buNone/>
            </a:pPr>
            <a:r>
              <a:rPr lang="en-US" sz="1400" i="0" u="none" strike="noStrike" cap="none">
                <a:solidFill>
                  <a:srgbClr val="000000"/>
                </a:solidFill>
                <a:latin typeface="Arial" panose="020B0604020202090204"/>
                <a:ea typeface="Arial" panose="020B0604020202090204"/>
                <a:cs typeface="Arial" panose="020B0604020202090204"/>
                <a:sym typeface="Arial" panose="020B0604020202090204"/>
              </a:rPr>
              <a:t>This project aims to develop “The Smartest AI Nutrition Assistant” using state-of-the-art generative AI</a:t>
            </a:r>
            <a:endParaRPr lang="en-US" sz="1400" i="0" u="none" strike="noStrike" cap="none">
              <a:solidFill>
                <a:srgbClr val="000000"/>
              </a:solidFill>
              <a:latin typeface="Arial" panose="020B0604020202090204"/>
              <a:ea typeface="Arial" panose="020B0604020202090204"/>
              <a:cs typeface="Arial" panose="020B0604020202090204"/>
              <a:sym typeface="Arial" panose="020B0604020202090204"/>
            </a:endParaRPr>
          </a:p>
          <a:p>
            <a:pPr marL="0" marR="0" lvl="0" indent="0" algn="l" rtl="0">
              <a:lnSpc>
                <a:spcPct val="100000"/>
              </a:lnSpc>
              <a:spcBef>
                <a:spcPts val="0"/>
              </a:spcBef>
              <a:spcAft>
                <a:spcPts val="0"/>
              </a:spcAft>
              <a:buNone/>
            </a:pPr>
            <a:r>
              <a:rPr lang="en-US" sz="1400" i="0" u="none" strike="noStrike" cap="none">
                <a:solidFill>
                  <a:srgbClr val="000000"/>
                </a:solidFill>
                <a:latin typeface="Arial" panose="020B0604020202090204"/>
                <a:ea typeface="Arial" panose="020B0604020202090204"/>
                <a:cs typeface="Arial" panose="020B0604020202090204"/>
                <a:sym typeface="Arial" panose="020B0604020202090204"/>
              </a:rPr>
              <a:t>models that:</a:t>
            </a:r>
            <a:endParaRPr lang="en-US" sz="1400" i="0" u="none" strike="noStrike" cap="none">
              <a:solidFill>
                <a:srgbClr val="000000"/>
              </a:solidFill>
              <a:latin typeface="Arial" panose="020B0604020202090204"/>
              <a:ea typeface="Arial" panose="020B0604020202090204"/>
              <a:cs typeface="Arial" panose="020B0604020202090204"/>
              <a:sym typeface="Arial" panose="020B0604020202090204"/>
            </a:endParaRPr>
          </a:p>
          <a:p>
            <a:pPr marL="0" marR="0" lvl="0" indent="0" algn="l" rtl="0">
              <a:lnSpc>
                <a:spcPct val="100000"/>
              </a:lnSpc>
              <a:spcBef>
                <a:spcPts val="0"/>
              </a:spcBef>
              <a:spcAft>
                <a:spcPts val="0"/>
              </a:spcAft>
              <a:buNone/>
            </a:pPr>
            <a:r>
              <a:rPr lang="en-US" sz="1400" i="0" u="none" strike="noStrike" cap="none">
                <a:solidFill>
                  <a:srgbClr val="000000"/>
                </a:solidFill>
                <a:latin typeface="Arial" panose="020B0604020202090204"/>
                <a:ea typeface="Arial" panose="020B0604020202090204"/>
                <a:cs typeface="Arial" panose="020B0604020202090204"/>
                <a:sym typeface="Arial" panose="020B0604020202090204"/>
              </a:rPr>
              <a:t>       • Understand user inputs via text, voice, or image (e.g., food photos, grocery labels)</a:t>
            </a:r>
            <a:endParaRPr lang="en-US" sz="1400" i="0" u="none" strike="noStrike" cap="none">
              <a:solidFill>
                <a:srgbClr val="000000"/>
              </a:solidFill>
              <a:latin typeface="Arial" panose="020B0604020202090204"/>
              <a:ea typeface="Arial" panose="020B0604020202090204"/>
              <a:cs typeface="Arial" panose="020B0604020202090204"/>
              <a:sym typeface="Arial" panose="020B0604020202090204"/>
            </a:endParaRPr>
          </a:p>
          <a:p>
            <a:pPr marL="0" marR="0" lvl="0" indent="0" algn="l" rtl="0">
              <a:lnSpc>
                <a:spcPct val="100000"/>
              </a:lnSpc>
              <a:spcBef>
                <a:spcPts val="0"/>
              </a:spcBef>
              <a:spcAft>
                <a:spcPts val="0"/>
              </a:spcAft>
              <a:buNone/>
            </a:pPr>
            <a:r>
              <a:rPr lang="en-US" sz="1400" i="0" u="none" strike="noStrike" cap="none">
                <a:solidFill>
                  <a:srgbClr val="000000"/>
                </a:solidFill>
                <a:latin typeface="Arial" panose="020B0604020202090204"/>
                <a:ea typeface="Arial" panose="020B0604020202090204"/>
                <a:cs typeface="Arial" panose="020B0604020202090204"/>
                <a:sym typeface="Arial" panose="020B0604020202090204"/>
              </a:rPr>
              <a:t>       • Generate personalized meal plans based on health goals, medical conditions, fitness routines,</a:t>
            </a:r>
            <a:endParaRPr lang="en-US" sz="1400" i="0" u="none" strike="noStrike" cap="none">
              <a:solidFill>
                <a:srgbClr val="000000"/>
              </a:solidFill>
              <a:latin typeface="Arial" panose="020B0604020202090204"/>
              <a:ea typeface="Arial" panose="020B0604020202090204"/>
              <a:cs typeface="Arial" panose="020B0604020202090204"/>
              <a:sym typeface="Arial" panose="020B0604020202090204"/>
            </a:endParaRPr>
          </a:p>
          <a:p>
            <a:pPr marL="0" marR="0" lvl="0" indent="0" algn="l" rtl="0">
              <a:lnSpc>
                <a:spcPct val="100000"/>
              </a:lnSpc>
              <a:spcBef>
                <a:spcPts val="0"/>
              </a:spcBef>
              <a:spcAft>
                <a:spcPts val="0"/>
              </a:spcAft>
              <a:buNone/>
            </a:pPr>
            <a:r>
              <a:rPr lang="en-US" sz="1400" i="0" u="none" strike="noStrike" cap="none">
                <a:solidFill>
                  <a:srgbClr val="000000"/>
                </a:solidFill>
                <a:latin typeface="Arial" panose="020B0604020202090204"/>
                <a:ea typeface="Arial" panose="020B0604020202090204"/>
                <a:cs typeface="Arial" panose="020B0604020202090204"/>
                <a:sym typeface="Arial" panose="020B0604020202090204"/>
              </a:rPr>
              <a:t>          and preferences</a:t>
            </a:r>
            <a:endParaRPr lang="en-US" sz="1400" i="0" u="none" strike="noStrike" cap="none">
              <a:solidFill>
                <a:srgbClr val="000000"/>
              </a:solidFill>
              <a:latin typeface="Arial" panose="020B0604020202090204"/>
              <a:ea typeface="Arial" panose="020B0604020202090204"/>
              <a:cs typeface="Arial" panose="020B0604020202090204"/>
              <a:sym typeface="Arial" panose="020B0604020202090204"/>
            </a:endParaRPr>
          </a:p>
          <a:p>
            <a:pPr marL="0" marR="0" lvl="0" indent="0" algn="l" rtl="0">
              <a:lnSpc>
                <a:spcPct val="100000"/>
              </a:lnSpc>
              <a:spcBef>
                <a:spcPts val="0"/>
              </a:spcBef>
              <a:spcAft>
                <a:spcPts val="0"/>
              </a:spcAft>
              <a:buNone/>
            </a:pPr>
            <a:r>
              <a:rPr lang="en-US" sz="1400" i="0" u="none" strike="noStrike" cap="none">
                <a:solidFill>
                  <a:srgbClr val="000000"/>
                </a:solidFill>
                <a:latin typeface="Arial" panose="020B0604020202090204"/>
                <a:ea typeface="Arial" panose="020B0604020202090204"/>
                <a:cs typeface="Arial" panose="020B0604020202090204"/>
                <a:sym typeface="Arial" panose="020B0604020202090204"/>
              </a:rPr>
              <a:t>       • Offer contextual explanations (e.g., “Why is this food better?”)</a:t>
            </a:r>
            <a:endParaRPr lang="en-US" sz="1400" i="0" u="none" strike="noStrike" cap="none">
              <a:solidFill>
                <a:srgbClr val="000000"/>
              </a:solidFill>
              <a:latin typeface="Arial" panose="020B0604020202090204"/>
              <a:ea typeface="Arial" panose="020B0604020202090204"/>
              <a:cs typeface="Arial" panose="020B0604020202090204"/>
              <a:sym typeface="Arial" panose="020B0604020202090204"/>
            </a:endParaRPr>
          </a:p>
          <a:p>
            <a:pPr marL="0" marR="0" lvl="0" indent="0" algn="l" rtl="0">
              <a:lnSpc>
                <a:spcPct val="100000"/>
              </a:lnSpc>
              <a:spcBef>
                <a:spcPts val="0"/>
              </a:spcBef>
              <a:spcAft>
                <a:spcPts val="0"/>
              </a:spcAft>
              <a:buNone/>
            </a:pPr>
            <a:r>
              <a:rPr lang="en-US" sz="1400" i="0" u="none" strike="noStrike" cap="none">
                <a:solidFill>
                  <a:srgbClr val="000000"/>
                </a:solidFill>
                <a:latin typeface="Arial" panose="020B0604020202090204"/>
                <a:ea typeface="Arial" panose="020B0604020202090204"/>
                <a:cs typeface="Arial" panose="020B0604020202090204"/>
                <a:sym typeface="Arial" panose="020B0604020202090204"/>
              </a:rPr>
              <a:t>       • Adapt suggestions dynamically with continuous feedback</a:t>
            </a:r>
            <a:endParaRPr lang="en-US" sz="1400" i="0" u="none" strike="noStrike" cap="none">
              <a:solidFill>
                <a:srgbClr val="000000"/>
              </a:solidFill>
              <a:latin typeface="Arial" panose="020B0604020202090204"/>
              <a:ea typeface="Arial" panose="020B0604020202090204"/>
              <a:cs typeface="Arial" panose="020B0604020202090204"/>
              <a:sym typeface="Arial" panose="020B0604020202090204"/>
            </a:endParaRPr>
          </a:p>
          <a:p>
            <a:pPr marL="0" marR="0" lvl="0" indent="0" algn="l" rtl="0">
              <a:lnSpc>
                <a:spcPct val="100000"/>
              </a:lnSpc>
              <a:spcBef>
                <a:spcPts val="0"/>
              </a:spcBef>
              <a:spcAft>
                <a:spcPts val="0"/>
              </a:spcAft>
              <a:buNone/>
            </a:pPr>
            <a:r>
              <a:rPr lang="en-US" sz="1400" i="0" u="none" strike="noStrike" cap="none">
                <a:solidFill>
                  <a:srgbClr val="000000"/>
                </a:solidFill>
                <a:latin typeface="Arial" panose="020B0604020202090204"/>
                <a:ea typeface="Arial" panose="020B0604020202090204"/>
                <a:cs typeface="Arial" panose="020B0604020202090204"/>
                <a:sym typeface="Arial" panose="020B0604020202090204"/>
              </a:rPr>
              <a:t>By integrating health data, food databases, and LLM-powered reasoning, the solution will bridge the gap</a:t>
            </a:r>
            <a:endParaRPr lang="en-US" sz="1400" i="0" u="none" strike="noStrike" cap="none">
              <a:solidFill>
                <a:srgbClr val="000000"/>
              </a:solidFill>
              <a:latin typeface="Arial" panose="020B0604020202090204"/>
              <a:ea typeface="Arial" panose="020B0604020202090204"/>
              <a:cs typeface="Arial" panose="020B0604020202090204"/>
              <a:sym typeface="Arial" panose="020B0604020202090204"/>
            </a:endParaRPr>
          </a:p>
          <a:p>
            <a:pPr marL="0" marR="0" lvl="0" indent="0" algn="l" rtl="0">
              <a:lnSpc>
                <a:spcPct val="100000"/>
              </a:lnSpc>
              <a:spcBef>
                <a:spcPts val="0"/>
              </a:spcBef>
              <a:spcAft>
                <a:spcPts val="0"/>
              </a:spcAft>
              <a:buNone/>
            </a:pPr>
            <a:r>
              <a:rPr lang="en-US" sz="1400" i="0" u="none" strike="noStrike" cap="none">
                <a:solidFill>
                  <a:srgbClr val="000000"/>
                </a:solidFill>
                <a:latin typeface="Arial" panose="020B0604020202090204"/>
                <a:ea typeface="Arial" panose="020B0604020202090204"/>
                <a:cs typeface="Arial" panose="020B0604020202090204"/>
                <a:sym typeface="Arial" panose="020B0604020202090204"/>
              </a:rPr>
              <a:t>between one-size-fits-all diet apps and in-person nutrition counselling—delivering an AI that thinks,</a:t>
            </a:r>
            <a:endParaRPr lang="en-US" sz="1400" i="0" u="none" strike="noStrike" cap="none">
              <a:solidFill>
                <a:srgbClr val="000000"/>
              </a:solidFill>
              <a:latin typeface="Arial" panose="020B0604020202090204"/>
              <a:ea typeface="Arial" panose="020B0604020202090204"/>
              <a:cs typeface="Arial" panose="020B0604020202090204"/>
              <a:sym typeface="Arial" panose="020B0604020202090204"/>
            </a:endParaRPr>
          </a:p>
          <a:p>
            <a:pPr marL="0" marR="0" lvl="0" indent="0" algn="l" rtl="0">
              <a:lnSpc>
                <a:spcPct val="100000"/>
              </a:lnSpc>
              <a:spcBef>
                <a:spcPts val="0"/>
              </a:spcBef>
              <a:spcAft>
                <a:spcPts val="0"/>
              </a:spcAft>
              <a:buNone/>
            </a:pPr>
            <a:r>
              <a:rPr lang="en-US" sz="1400" i="0" u="none" strike="noStrike" cap="none">
                <a:solidFill>
                  <a:srgbClr val="000000"/>
                </a:solidFill>
                <a:latin typeface="Arial" panose="020B0604020202090204"/>
                <a:ea typeface="Arial" panose="020B0604020202090204"/>
                <a:cs typeface="Arial" panose="020B0604020202090204"/>
                <a:sym typeface="Arial" panose="020B0604020202090204"/>
              </a:rPr>
              <a:t>learns, and cares like a real nutrition expert.</a:t>
            </a:r>
            <a:endParaRPr lang="en-US" sz="1400" i="0" u="none" strike="noStrike" cap="none">
              <a:solidFill>
                <a:srgbClr val="000000"/>
              </a:solidFill>
              <a:latin typeface="Arial" panose="020B0604020202090204"/>
              <a:ea typeface="Arial" panose="020B0604020202090204"/>
              <a:cs typeface="Arial" panose="020B0604020202090204"/>
              <a:sym typeface="Arial" panose="020B0604020202090204"/>
            </a:endParaRPr>
          </a:p>
          <a:p>
            <a:pPr marL="0" marR="0" lvl="0" indent="0" algn="l" rtl="0">
              <a:lnSpc>
                <a:spcPct val="100000"/>
              </a:lnSpc>
              <a:spcBef>
                <a:spcPts val="0"/>
              </a:spcBef>
              <a:spcAft>
                <a:spcPts val="0"/>
              </a:spcAft>
              <a:buNone/>
            </a:pP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96" name="Google Shape;96;p34"/>
          <p:cNvSpPr txBox="1"/>
          <p:nvPr/>
        </p:nvSpPr>
        <p:spPr>
          <a:xfrm>
            <a:off x="576072" y="704088"/>
            <a:ext cx="7214616" cy="45910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a:solidFill>
                  <a:srgbClr val="000000"/>
                </a:solidFill>
                <a:latin typeface="Arial" panose="020B0604020202090204"/>
                <a:ea typeface="Arial" panose="020B0604020202090204"/>
                <a:cs typeface="Arial" panose="020B0604020202090204"/>
                <a:sym typeface="Arial" panose="020B0604020202090204"/>
              </a:rPr>
              <a:t>Problem Statement - 8</a:t>
            </a:r>
            <a:endParaRPr sz="2400" b="1"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00" name="Shape 100"/>
        <p:cNvGrpSpPr/>
        <p:nvPr/>
      </p:nvGrpSpPr>
      <p:grpSpPr>
        <a:xfrm>
          <a:off x="0" y="0"/>
          <a:ext cx="0" cy="0"/>
          <a:chOff x="0" y="0"/>
          <a:chExt cx="0" cy="0"/>
        </a:xfrm>
      </p:grpSpPr>
      <p:sp>
        <p:nvSpPr>
          <p:cNvPr id="101" name="Google Shape;101;p35"/>
          <p:cNvSpPr txBox="1"/>
          <p:nvPr/>
        </p:nvSpPr>
        <p:spPr>
          <a:xfrm>
            <a:off x="537845" y="1363345"/>
            <a:ext cx="10451465" cy="489839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b="1" i="0" u="none" strike="noStrike" cap="none">
                <a:solidFill>
                  <a:srgbClr val="000000"/>
                </a:solidFill>
                <a:latin typeface="Arial Bold" panose="020B0604020202090204" charset="0"/>
                <a:ea typeface="Arial" panose="020B0604020202090204"/>
                <a:cs typeface="Arial Bold" panose="020B0604020202090204" charset="0"/>
                <a:sym typeface="Arial" panose="020B0604020202090204"/>
              </a:rPr>
              <a:t>The proposed solution is an AI-Powered Nutrition Agent </a:t>
            </a:r>
            <a:r>
              <a:rPr i="0" u="none" strike="noStrike" cap="none">
                <a:solidFill>
                  <a:srgbClr val="000000"/>
                </a:solidFill>
                <a:latin typeface="Arial" panose="020B0604020202090204"/>
                <a:ea typeface="Arial" panose="020B0604020202090204"/>
                <a:cs typeface="Arial" panose="020B0604020202090204"/>
                <a:sym typeface="Arial" panose="020B0604020202090204"/>
              </a:rPr>
              <a:t>built using IBM watsonx.ai, IBM Granite, IBM BOB, Python Flask, and Bootstrap to provide personalized, real-time nutrition guidance. The system addresses challenges in diet planning, nutrition tracking, and healthy lifestyle management through an intelligent and interactive AI-powered assistant.</a:t>
            </a:r>
            <a:endParaRPr i="0" u="none" strike="noStrike" cap="none">
              <a:solidFill>
                <a:srgbClr val="000000"/>
              </a:solidFill>
              <a:latin typeface="Arial" panose="020B0604020202090204"/>
              <a:ea typeface="Arial" panose="020B0604020202090204"/>
              <a:cs typeface="Arial" panose="020B0604020202090204"/>
              <a:sym typeface="Arial" panose="020B0604020202090204"/>
            </a:endParaRPr>
          </a:p>
          <a:p>
            <a:pPr marL="0" marR="0" lvl="0" indent="0" algn="l" rtl="0">
              <a:lnSpc>
                <a:spcPct val="100000"/>
              </a:lnSpc>
              <a:spcBef>
                <a:spcPts val="0"/>
              </a:spcBef>
              <a:spcAft>
                <a:spcPts val="0"/>
              </a:spcAft>
              <a:buNone/>
            </a:pPr>
            <a:endParaRPr i="0" u="none" strike="noStrike" cap="none">
              <a:solidFill>
                <a:srgbClr val="000000"/>
              </a:solidFill>
              <a:latin typeface="Arial" panose="020B0604020202090204"/>
              <a:ea typeface="Arial" panose="020B0604020202090204"/>
              <a:cs typeface="Arial" panose="020B0604020202090204"/>
              <a:sym typeface="Arial" panose="020B0604020202090204"/>
            </a:endParaRPr>
          </a:p>
          <a:p>
            <a:pPr marL="0" marR="0" lvl="0" indent="0" algn="l" rtl="0">
              <a:lnSpc>
                <a:spcPct val="100000"/>
              </a:lnSpc>
              <a:spcBef>
                <a:spcPts val="0"/>
              </a:spcBef>
              <a:spcAft>
                <a:spcPts val="0"/>
              </a:spcAft>
              <a:buNone/>
            </a:pPr>
            <a:r>
              <a:rPr i="0" u="none" strike="noStrike" cap="none">
                <a:solidFill>
                  <a:srgbClr val="000000"/>
                </a:solidFill>
                <a:latin typeface="Arial" panose="020B0604020202090204"/>
                <a:ea typeface="Arial" panose="020B0604020202090204"/>
                <a:cs typeface="Arial" panose="020B0604020202090204"/>
                <a:sym typeface="Arial" panose="020B0604020202090204"/>
              </a:rPr>
              <a:t>The solution leverages IBM Granite models through IBM watsonx.ai to generate personalized meal plans, answer nutrition-related queries, recommend smart food swaps, and provide contextual explanations based on user preferences, health goals, dietary habits, allergies, and medical conditions.</a:t>
            </a:r>
            <a:endParaRPr i="0" u="none" strike="noStrike" cap="none">
              <a:solidFill>
                <a:srgbClr val="000000"/>
              </a:solidFill>
              <a:latin typeface="Arial" panose="020B0604020202090204"/>
              <a:ea typeface="Arial" panose="020B0604020202090204"/>
              <a:cs typeface="Arial" panose="020B0604020202090204"/>
              <a:sym typeface="Arial" panose="020B0604020202090204"/>
            </a:endParaRPr>
          </a:p>
          <a:p>
            <a:pPr marL="0" marR="0" lvl="0" indent="0" algn="l" rtl="0">
              <a:lnSpc>
                <a:spcPct val="100000"/>
              </a:lnSpc>
              <a:spcBef>
                <a:spcPts val="0"/>
              </a:spcBef>
              <a:spcAft>
                <a:spcPts val="0"/>
              </a:spcAft>
              <a:buNone/>
            </a:pPr>
            <a:endParaRPr i="0" u="none" strike="noStrike" cap="none">
              <a:solidFill>
                <a:srgbClr val="000000"/>
              </a:solidFill>
              <a:latin typeface="Arial" panose="020B0604020202090204"/>
              <a:ea typeface="Arial" panose="020B0604020202090204"/>
              <a:cs typeface="Arial" panose="020B0604020202090204"/>
              <a:sym typeface="Arial" panose="020B0604020202090204"/>
            </a:endParaRPr>
          </a:p>
          <a:p>
            <a:pPr marL="0" marR="0" lvl="0" indent="0" algn="l" rtl="0">
              <a:lnSpc>
                <a:spcPct val="100000"/>
              </a:lnSpc>
              <a:spcBef>
                <a:spcPts val="0"/>
              </a:spcBef>
              <a:spcAft>
                <a:spcPts val="0"/>
              </a:spcAft>
              <a:buNone/>
            </a:pPr>
            <a:r>
              <a:rPr i="0" u="none" strike="noStrike" cap="none">
                <a:solidFill>
                  <a:srgbClr val="000000"/>
                </a:solidFill>
                <a:latin typeface="Arial" panose="020B0604020202090204"/>
                <a:ea typeface="Arial" panose="020B0604020202090204"/>
                <a:cs typeface="Arial" panose="020B0604020202090204"/>
                <a:sym typeface="Arial" panose="020B0604020202090204"/>
              </a:rPr>
              <a:t>The system consists of the following key modules:</a:t>
            </a:r>
            <a:endParaRPr i="0" u="none" strike="noStrike" cap="none">
              <a:solidFill>
                <a:srgbClr val="000000"/>
              </a:solidFill>
              <a:latin typeface="Arial" panose="020B0604020202090204"/>
              <a:ea typeface="Arial" panose="020B0604020202090204"/>
              <a:cs typeface="Arial" panose="020B0604020202090204"/>
              <a:sym typeface="Arial" panose="020B0604020202090204"/>
            </a:endParaRPr>
          </a:p>
          <a:p>
            <a:pPr marL="0" marR="0" lvl="0" indent="0" algn="l" rtl="0">
              <a:lnSpc>
                <a:spcPct val="100000"/>
              </a:lnSpc>
              <a:spcBef>
                <a:spcPts val="0"/>
              </a:spcBef>
              <a:spcAft>
                <a:spcPts val="0"/>
              </a:spcAft>
              <a:buNone/>
            </a:pPr>
            <a:endParaRPr i="0" u="none" strike="noStrike" cap="none">
              <a:solidFill>
                <a:srgbClr val="000000"/>
              </a:solidFill>
              <a:latin typeface="Arial" panose="020B0604020202090204"/>
              <a:ea typeface="Arial" panose="020B0604020202090204"/>
              <a:cs typeface="Arial" panose="020B0604020202090204"/>
              <a:sym typeface="Arial" panose="020B0604020202090204"/>
            </a:endParaRPr>
          </a:p>
          <a:p>
            <a:pPr marL="0" marR="0" lvl="0" indent="0" algn="l" rtl="0">
              <a:lnSpc>
                <a:spcPct val="100000"/>
              </a:lnSpc>
              <a:spcBef>
                <a:spcPts val="0"/>
              </a:spcBef>
              <a:spcAft>
                <a:spcPts val="0"/>
              </a:spcAft>
              <a:buNone/>
            </a:pPr>
            <a:r>
              <a:rPr i="0" u="none" strike="noStrike" cap="none">
                <a:solidFill>
                  <a:srgbClr val="000000"/>
                </a:solidFill>
                <a:latin typeface="Arial" panose="020B0604020202090204"/>
                <a:ea typeface="Arial" panose="020B0604020202090204"/>
                <a:cs typeface="Arial" panose="020B0604020202090204"/>
                <a:sym typeface="Arial" panose="020B0604020202090204"/>
              </a:rPr>
              <a:t>AI Nutrition Assistant provides real-time nutrition guidance and answers user queries using IBM Granite.</a:t>
            </a:r>
            <a:endParaRPr i="0" u="none" strike="noStrike" cap="none">
              <a:solidFill>
                <a:srgbClr val="000000"/>
              </a:solidFill>
              <a:latin typeface="Arial" panose="020B0604020202090204"/>
              <a:ea typeface="Arial" panose="020B0604020202090204"/>
              <a:cs typeface="Arial" panose="020B0604020202090204"/>
              <a:sym typeface="Arial" panose="020B0604020202090204"/>
            </a:endParaRPr>
          </a:p>
          <a:p>
            <a:pPr marL="0" marR="0" lvl="0" indent="0" algn="l" rtl="0">
              <a:lnSpc>
                <a:spcPct val="100000"/>
              </a:lnSpc>
              <a:spcBef>
                <a:spcPts val="0"/>
              </a:spcBef>
              <a:spcAft>
                <a:spcPts val="0"/>
              </a:spcAft>
              <a:buNone/>
            </a:pPr>
            <a:r>
              <a:rPr i="0" u="none" strike="noStrike" cap="none">
                <a:solidFill>
                  <a:srgbClr val="000000"/>
                </a:solidFill>
                <a:latin typeface="Arial" panose="020B0604020202090204"/>
                <a:ea typeface="Arial" panose="020B0604020202090204"/>
                <a:cs typeface="Arial" panose="020B0604020202090204"/>
                <a:sym typeface="Arial" panose="020B0604020202090204"/>
              </a:rPr>
              <a:t>Personalized Meal Planner generates customized meal plans based on age, health conditions, dietary preferences, fitness goals, and lifestyle.</a:t>
            </a:r>
            <a:endParaRPr i="0" u="none" strike="noStrike" cap="none">
              <a:solidFill>
                <a:srgbClr val="000000"/>
              </a:solidFill>
              <a:latin typeface="Arial" panose="020B0604020202090204"/>
              <a:ea typeface="Arial" panose="020B0604020202090204"/>
              <a:cs typeface="Arial" panose="020B0604020202090204"/>
              <a:sym typeface="Arial" panose="020B0604020202090204"/>
            </a:endParaRPr>
          </a:p>
          <a:p>
            <a:pPr marL="0" marR="0" lvl="0" indent="0" algn="l" rtl="0">
              <a:lnSpc>
                <a:spcPct val="100000"/>
              </a:lnSpc>
              <a:spcBef>
                <a:spcPts val="0"/>
              </a:spcBef>
              <a:spcAft>
                <a:spcPts val="0"/>
              </a:spcAft>
              <a:buNone/>
            </a:pPr>
            <a:r>
              <a:rPr i="0" u="none" strike="noStrike" cap="none">
                <a:solidFill>
                  <a:srgbClr val="000000"/>
                </a:solidFill>
                <a:latin typeface="Arial" panose="020B0604020202090204"/>
                <a:ea typeface="Arial" panose="020B0604020202090204"/>
                <a:cs typeface="Arial" panose="020B0604020202090204"/>
                <a:sym typeface="Arial" panose="020B0604020202090204"/>
              </a:rPr>
              <a:t>Health &amp; Nutrition Analyzer calculates BMI and TDEE, provides calorie recommendations, and supports healthier food choices.</a:t>
            </a:r>
            <a:endParaRPr i="0" u="none" strike="noStrike" cap="none">
              <a:solidFill>
                <a:srgbClr val="000000"/>
              </a:solidFill>
              <a:latin typeface="Arial" panose="020B0604020202090204"/>
              <a:ea typeface="Arial" panose="020B0604020202090204"/>
              <a:cs typeface="Arial" panose="020B0604020202090204"/>
              <a:sym typeface="Arial" panose="020B0604020202090204"/>
            </a:endParaRPr>
          </a:p>
          <a:p>
            <a:pPr marL="0" marR="0" lvl="0" indent="0" algn="l" rtl="0">
              <a:lnSpc>
                <a:spcPct val="100000"/>
              </a:lnSpc>
              <a:spcBef>
                <a:spcPts val="0"/>
              </a:spcBef>
              <a:spcAft>
                <a:spcPts val="0"/>
              </a:spcAft>
              <a:buNone/>
            </a:pPr>
            <a:r>
              <a:rPr i="0" u="none" strike="noStrike" cap="none">
                <a:solidFill>
                  <a:srgbClr val="000000"/>
                </a:solidFill>
                <a:latin typeface="Arial" panose="020B0604020202090204"/>
                <a:ea typeface="Arial" panose="020B0604020202090204"/>
                <a:cs typeface="Arial" panose="020B0604020202090204"/>
                <a:sym typeface="Arial" panose="020B0604020202090204"/>
              </a:rPr>
              <a:t>Food Analysis &amp; Feedback Module allows users to interact through text, voice, or food image uploads, delivers nutrition analysis, recommends smart food swaps, and adapts future recommendations based on user feedback.</a:t>
            </a:r>
            <a:endParaRPr i="0" u="none" strike="noStrike" cap="none">
              <a:solidFill>
                <a:srgbClr val="000000"/>
              </a:solidFill>
              <a:latin typeface="Arial" panose="020B0604020202090204"/>
              <a:ea typeface="Arial" panose="020B0604020202090204"/>
              <a:cs typeface="Arial" panose="020B0604020202090204"/>
              <a:sym typeface="Arial" panose="020B0604020202090204"/>
            </a:endParaRPr>
          </a:p>
          <a:p>
            <a:pPr marL="0" marR="0" lvl="0" indent="0" algn="l" rtl="0">
              <a:lnSpc>
                <a:spcPct val="100000"/>
              </a:lnSpc>
              <a:spcBef>
                <a:spcPts val="0"/>
              </a:spcBef>
              <a:spcAft>
                <a:spcPts val="0"/>
              </a:spcAft>
              <a:buNone/>
            </a:pPr>
            <a:endParaRPr i="0" u="none" strike="noStrike" cap="none">
              <a:solidFill>
                <a:srgbClr val="000000"/>
              </a:solidFill>
              <a:latin typeface="Arial" panose="020B0604020202090204"/>
              <a:ea typeface="Arial" panose="020B0604020202090204"/>
              <a:cs typeface="Arial" panose="020B0604020202090204"/>
              <a:sym typeface="Arial" panose="020B0604020202090204"/>
            </a:endParaRPr>
          </a:p>
          <a:p>
            <a:pPr marL="0" marR="0" lvl="0" indent="0" algn="l" rtl="0">
              <a:lnSpc>
                <a:spcPct val="100000"/>
              </a:lnSpc>
              <a:spcBef>
                <a:spcPts val="0"/>
              </a:spcBef>
              <a:spcAft>
                <a:spcPts val="0"/>
              </a:spcAft>
              <a:buNone/>
            </a:pPr>
            <a:r>
              <a:rPr i="0" u="none" strike="noStrike" cap="none">
                <a:solidFill>
                  <a:srgbClr val="000000"/>
                </a:solidFill>
                <a:latin typeface="Arial" panose="020B0604020202090204"/>
                <a:ea typeface="Arial" panose="020B0604020202090204"/>
                <a:cs typeface="Arial" panose="020B0604020202090204"/>
                <a:sym typeface="Arial" panose="020B0604020202090204"/>
              </a:rPr>
              <a:t>The solution includes a responsive dashboard that displays personalized meal plans, nutrition insights, BMI &amp; TDEE calculations, family nutrition profiles, and daily health tips through an intuitive user interface.</a:t>
            </a:r>
            <a:endParaRPr i="0" u="none" strike="noStrike" cap="none">
              <a:solidFill>
                <a:srgbClr val="000000"/>
              </a:solidFill>
              <a:latin typeface="Arial" panose="020B0604020202090204"/>
              <a:ea typeface="Arial" panose="020B0604020202090204"/>
              <a:cs typeface="Arial" panose="020B0604020202090204"/>
              <a:sym typeface="Arial" panose="020B0604020202090204"/>
            </a:endParaRPr>
          </a:p>
          <a:p>
            <a:pPr marL="0" marR="0" lvl="0" indent="0" algn="l" rtl="0">
              <a:lnSpc>
                <a:spcPct val="100000"/>
              </a:lnSpc>
              <a:spcBef>
                <a:spcPts val="0"/>
              </a:spcBef>
              <a:spcAft>
                <a:spcPts val="0"/>
              </a:spcAft>
              <a:buNone/>
            </a:pPr>
            <a:endParaRPr i="0" u="none" strike="noStrike" cap="none">
              <a:solidFill>
                <a:srgbClr val="000000"/>
              </a:solidFill>
              <a:latin typeface="Arial" panose="020B0604020202090204"/>
              <a:ea typeface="Arial" panose="020B0604020202090204"/>
              <a:cs typeface="Arial" panose="020B0604020202090204"/>
              <a:sym typeface="Arial" panose="020B0604020202090204"/>
            </a:endParaRPr>
          </a:p>
          <a:p>
            <a:pPr marL="0" marR="0" lvl="0" indent="0" algn="l" rtl="0">
              <a:lnSpc>
                <a:spcPct val="100000"/>
              </a:lnSpc>
              <a:spcBef>
                <a:spcPts val="0"/>
              </a:spcBef>
              <a:spcAft>
                <a:spcPts val="0"/>
              </a:spcAft>
              <a:buNone/>
            </a:pPr>
            <a:r>
              <a:rPr i="0" u="none" strike="noStrike" cap="none">
                <a:solidFill>
                  <a:srgbClr val="000000"/>
                </a:solidFill>
                <a:latin typeface="Arial" panose="020B0604020202090204"/>
                <a:ea typeface="Arial" panose="020B0604020202090204"/>
                <a:cs typeface="Arial" panose="020B0604020202090204"/>
                <a:sym typeface="Arial" panose="020B0604020202090204"/>
              </a:rPr>
              <a:t>IBM watsonx.ai enables AI-powered model deployment, IBM Granite powers reasoning and personalized recommendations, and IBM BOB orchestrates the Nutrition Agent workflow and user interactions.</a:t>
            </a:r>
            <a:endParaRPr i="0" u="none" strike="noStrike" cap="none">
              <a:solidFill>
                <a:srgbClr val="000000"/>
              </a:solidFill>
              <a:latin typeface="Arial" panose="020B0604020202090204"/>
              <a:ea typeface="Arial" panose="020B0604020202090204"/>
              <a:cs typeface="Arial" panose="020B0604020202090204"/>
              <a:sym typeface="Arial" panose="020B0604020202090204"/>
            </a:endParaRPr>
          </a:p>
          <a:p>
            <a:pPr marL="0" marR="0" lvl="0" indent="0" algn="l" rtl="0">
              <a:lnSpc>
                <a:spcPct val="100000"/>
              </a:lnSpc>
              <a:spcBef>
                <a:spcPts val="0"/>
              </a:spcBef>
              <a:spcAft>
                <a:spcPts val="0"/>
              </a:spcAft>
              <a:buNone/>
            </a:pPr>
            <a:endParaRPr i="0" u="none" strike="noStrike" cap="none">
              <a:solidFill>
                <a:srgbClr val="000000"/>
              </a:solidFill>
              <a:latin typeface="Arial" panose="020B0604020202090204"/>
              <a:ea typeface="Arial" panose="020B0604020202090204"/>
              <a:cs typeface="Arial" panose="020B0604020202090204"/>
              <a:sym typeface="Arial" panose="020B0604020202090204"/>
            </a:endParaRPr>
          </a:p>
          <a:p>
            <a:pPr marL="0" marR="0" lvl="0" indent="0" algn="l" rtl="0">
              <a:lnSpc>
                <a:spcPct val="100000"/>
              </a:lnSpc>
              <a:spcBef>
                <a:spcPts val="0"/>
              </a:spcBef>
              <a:spcAft>
                <a:spcPts val="0"/>
              </a:spcAft>
              <a:buNone/>
            </a:pPr>
            <a:endParaRPr sz="160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02" name="Google Shape;102;p35"/>
          <p:cNvSpPr txBox="1"/>
          <p:nvPr/>
        </p:nvSpPr>
        <p:spPr>
          <a:xfrm>
            <a:off x="576072" y="704088"/>
            <a:ext cx="7214616"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a:solidFill>
                  <a:srgbClr val="000000"/>
                </a:solidFill>
                <a:latin typeface="Arial" panose="020B0604020202090204"/>
                <a:ea typeface="Arial" panose="020B0604020202090204"/>
                <a:cs typeface="Arial" panose="020B0604020202090204"/>
                <a:sym typeface="Arial" panose="020B0604020202090204"/>
              </a:rPr>
              <a:t>Proposed Solution -</a:t>
            </a:r>
            <a:endParaRPr sz="2400" b="1"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06" name="Shape 106"/>
        <p:cNvGrpSpPr/>
        <p:nvPr/>
      </p:nvGrpSpPr>
      <p:grpSpPr>
        <a:xfrm>
          <a:off x="0" y="0"/>
          <a:ext cx="0" cy="0"/>
          <a:chOff x="0" y="0"/>
          <a:chExt cx="0" cy="0"/>
        </a:xfrm>
      </p:grpSpPr>
      <p:sp>
        <p:nvSpPr>
          <p:cNvPr id="107" name="Google Shape;107;p36"/>
          <p:cNvSpPr txBox="1"/>
          <p:nvPr/>
        </p:nvSpPr>
        <p:spPr>
          <a:xfrm>
            <a:off x="777240" y="484632"/>
            <a:ext cx="7123176"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a:solidFill>
                  <a:srgbClr val="000000"/>
                </a:solidFill>
                <a:latin typeface="Arial" panose="020B0604020202090204"/>
                <a:ea typeface="Arial" panose="020B0604020202090204"/>
                <a:cs typeface="Arial" panose="020B0604020202090204"/>
                <a:sym typeface="Arial" panose="020B0604020202090204"/>
              </a:rPr>
              <a:t>Technology Used</a:t>
            </a:r>
            <a:endParaRPr sz="2400" b="1"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08" name="Google Shape;108;p36"/>
          <p:cNvSpPr txBox="1"/>
          <p:nvPr/>
        </p:nvSpPr>
        <p:spPr>
          <a:xfrm>
            <a:off x="777240" y="1207008"/>
            <a:ext cx="10515600" cy="4244975"/>
          </a:xfrm>
          <a:prstGeom prst="rect">
            <a:avLst/>
          </a:prstGeom>
          <a:noFill/>
          <a:ln>
            <a:noFill/>
          </a:ln>
        </p:spPr>
        <p:txBody>
          <a:bodyPr spcFirstLastPara="1" wrap="square" lIns="91425" tIns="45700" rIns="91425" bIns="45700" anchor="t" anchorCtr="0">
            <a:spAutoFit/>
          </a:bodyPr>
          <a:lstStyle/>
          <a:p>
            <a:pPr marL="285750" marR="0" lvl="0" indent="-285750" algn="l" rtl="0">
              <a:lnSpc>
                <a:spcPct val="100000"/>
              </a:lnSpc>
              <a:spcBef>
                <a:spcPts val="0"/>
              </a:spcBef>
              <a:spcAft>
                <a:spcPts val="0"/>
              </a:spcAft>
              <a:buClr>
                <a:srgbClr val="000000"/>
              </a:buClr>
              <a:buSzPts val="1800"/>
              <a:buFont typeface="Arial" panose="020B0604020202090204"/>
              <a:buChar char="•"/>
            </a:pPr>
            <a:r>
              <a:rPr lang="en-US" sz="1800" b="1" i="0" u="none" strike="noStrike" cap="none">
                <a:solidFill>
                  <a:srgbClr val="000000"/>
                </a:solidFill>
                <a:latin typeface="Arial Bold" panose="020B0604020202090204" charset="0"/>
                <a:ea typeface="Arial" panose="020B0604020202090204"/>
                <a:cs typeface="Arial Bold" panose="020B0604020202090204" charset="0"/>
                <a:sym typeface="Arial" panose="020B0604020202090204"/>
              </a:rPr>
              <a:t>IBM BOB</a:t>
            </a:r>
            <a:r>
              <a:rPr lang="en-US" sz="1800" i="0" u="none" strike="noStrike" cap="none">
                <a:solidFill>
                  <a:srgbClr val="000000"/>
                </a:solidFill>
                <a:latin typeface="Arial" panose="020B0604020202090204"/>
                <a:ea typeface="Arial" panose="020B0604020202090204"/>
                <a:cs typeface="Arial" panose="020B0604020202090204"/>
                <a:sym typeface="Arial" panose="020B0604020202090204"/>
              </a:rPr>
              <a:t> – Used to build and orchestrate the AI-powered Nutrition Agent, enabling personalized user interactions and intelligent nutrition assistance.</a:t>
            </a:r>
            <a:endParaRPr lang="en-US" sz="1800" i="0" u="none" strike="noStrike" cap="none">
              <a:solidFill>
                <a:srgbClr val="000000"/>
              </a:solidFill>
              <a:latin typeface="Arial" panose="020B0604020202090204"/>
              <a:ea typeface="Arial" panose="020B0604020202090204"/>
              <a:cs typeface="Arial" panose="020B0604020202090204"/>
              <a:sym typeface="Arial" panose="020B0604020202090204"/>
            </a:endParaRPr>
          </a:p>
          <a:p>
            <a:pPr marL="285750" marR="0" lvl="0" indent="-285750" algn="l" rtl="0">
              <a:lnSpc>
                <a:spcPct val="100000"/>
              </a:lnSpc>
              <a:spcBef>
                <a:spcPts val="0"/>
              </a:spcBef>
              <a:spcAft>
                <a:spcPts val="0"/>
              </a:spcAft>
              <a:buClr>
                <a:srgbClr val="000000"/>
              </a:buClr>
              <a:buSzPts val="1800"/>
              <a:buFont typeface="Arial" panose="020B0604020202090204"/>
              <a:buChar char="•"/>
            </a:pPr>
            <a:r>
              <a:rPr lang="en-US" sz="1800" b="1" i="0" u="none" strike="noStrike" cap="none">
                <a:solidFill>
                  <a:srgbClr val="000000"/>
                </a:solidFill>
                <a:latin typeface="Arial Bold" panose="020B0604020202090204" charset="0"/>
                <a:ea typeface="Arial" panose="020B0604020202090204"/>
                <a:cs typeface="Arial Bold" panose="020B0604020202090204" charset="0"/>
                <a:sym typeface="Arial" panose="020B0604020202090204"/>
              </a:rPr>
              <a:t>IBM Granite Model</a:t>
            </a:r>
            <a:r>
              <a:rPr lang="en-US" sz="1800" i="0" u="none" strike="noStrike" cap="none">
                <a:solidFill>
                  <a:srgbClr val="000000"/>
                </a:solidFill>
                <a:latin typeface="Arial" panose="020B0604020202090204"/>
                <a:ea typeface="Arial" panose="020B0604020202090204"/>
                <a:cs typeface="Arial" panose="020B0604020202090204"/>
                <a:sym typeface="Arial" panose="020B0604020202090204"/>
              </a:rPr>
              <a:t> (e.g., meta-llama/llama-3-3-70b-instruct or the Granite model you actually used) – Used for natural language understanding, personalized meal planning, nutrition reasoning, contextual explanations, and smart food recommendations.</a:t>
            </a:r>
            <a:endParaRPr lang="en-US" sz="1800" i="0" u="none" strike="noStrike" cap="none">
              <a:solidFill>
                <a:srgbClr val="000000"/>
              </a:solidFill>
              <a:latin typeface="Arial" panose="020B0604020202090204"/>
              <a:ea typeface="Arial" panose="020B0604020202090204"/>
              <a:cs typeface="Arial" panose="020B0604020202090204"/>
              <a:sym typeface="Arial" panose="020B0604020202090204"/>
            </a:endParaRPr>
          </a:p>
          <a:p>
            <a:pPr marL="285750" marR="0" lvl="0" indent="-285750" algn="l" rtl="0">
              <a:lnSpc>
                <a:spcPct val="100000"/>
              </a:lnSpc>
              <a:spcBef>
                <a:spcPts val="0"/>
              </a:spcBef>
              <a:spcAft>
                <a:spcPts val="0"/>
              </a:spcAft>
              <a:buClr>
                <a:srgbClr val="000000"/>
              </a:buClr>
              <a:buSzPts val="1800"/>
              <a:buFont typeface="Arial" panose="020B0604020202090204"/>
              <a:buChar char="•"/>
            </a:pPr>
            <a:r>
              <a:rPr lang="en-US" sz="1800" b="1" i="0" u="none" strike="noStrike" cap="none">
                <a:solidFill>
                  <a:srgbClr val="000000"/>
                </a:solidFill>
                <a:latin typeface="Arial Bold" panose="020B0604020202090204" charset="0"/>
                <a:ea typeface="Arial" panose="020B0604020202090204"/>
                <a:cs typeface="Arial Bold" panose="020B0604020202090204" charset="0"/>
                <a:sym typeface="Arial" panose="020B0604020202090204"/>
              </a:rPr>
              <a:t>IBM watsonx.ai </a:t>
            </a:r>
            <a:r>
              <a:rPr lang="en-US" sz="1800" i="0" u="none" strike="noStrike" cap="none">
                <a:solidFill>
                  <a:srgbClr val="000000"/>
                </a:solidFill>
                <a:latin typeface="Arial" panose="020B0604020202090204"/>
                <a:ea typeface="Arial" panose="020B0604020202090204"/>
                <a:cs typeface="Arial" panose="020B0604020202090204"/>
                <a:sym typeface="Arial" panose="020B0604020202090204"/>
              </a:rPr>
              <a:t>– Used to access and deploy foundation models, enabling AI-powered nutrition guidance and conversational responses.</a:t>
            </a:r>
            <a:endParaRPr lang="en-US" sz="1800" i="0" u="none" strike="noStrike" cap="none">
              <a:solidFill>
                <a:srgbClr val="000000"/>
              </a:solidFill>
              <a:latin typeface="Arial" panose="020B0604020202090204"/>
              <a:ea typeface="Arial" panose="020B0604020202090204"/>
              <a:cs typeface="Arial" panose="020B0604020202090204"/>
              <a:sym typeface="Arial" panose="020B0604020202090204"/>
            </a:endParaRPr>
          </a:p>
          <a:p>
            <a:pPr marL="285750" marR="0" lvl="0" indent="-285750" algn="l" rtl="0">
              <a:lnSpc>
                <a:spcPct val="100000"/>
              </a:lnSpc>
              <a:spcBef>
                <a:spcPts val="0"/>
              </a:spcBef>
              <a:spcAft>
                <a:spcPts val="0"/>
              </a:spcAft>
              <a:buClr>
                <a:srgbClr val="000000"/>
              </a:buClr>
              <a:buSzPts val="1800"/>
              <a:buFont typeface="Arial" panose="020B0604020202090204"/>
              <a:buChar char="•"/>
            </a:pPr>
            <a:r>
              <a:rPr lang="en-US" sz="1800" b="1" i="0" u="none" strike="noStrike" cap="none">
                <a:solidFill>
                  <a:srgbClr val="000000"/>
                </a:solidFill>
                <a:latin typeface="Arial Bold" panose="020B0604020202090204" charset="0"/>
                <a:ea typeface="Arial" panose="020B0604020202090204"/>
                <a:cs typeface="Arial Bold" panose="020B0604020202090204" charset="0"/>
                <a:sym typeface="Arial" panose="020B0604020202090204"/>
              </a:rPr>
              <a:t>IBM Cloud Lite </a:t>
            </a:r>
            <a:r>
              <a:rPr lang="en-US" sz="1800" i="0" u="none" strike="noStrike" cap="none">
                <a:solidFill>
                  <a:srgbClr val="000000"/>
                </a:solidFill>
                <a:latin typeface="Arial" panose="020B0604020202090204"/>
                <a:ea typeface="Arial" panose="020B0604020202090204"/>
                <a:cs typeface="Arial" panose="020B0604020202090204"/>
                <a:sym typeface="Arial" panose="020B0604020202090204"/>
              </a:rPr>
              <a:t>– Provides the cloud environment for securely developing, testing, and running the Nutrition Agent.</a:t>
            </a:r>
            <a:endParaRPr lang="en-US" sz="1800" i="0" u="none" strike="noStrike" cap="none">
              <a:solidFill>
                <a:srgbClr val="000000"/>
              </a:solidFill>
              <a:latin typeface="Arial" panose="020B0604020202090204"/>
              <a:ea typeface="Arial" panose="020B0604020202090204"/>
              <a:cs typeface="Arial" panose="020B0604020202090204"/>
              <a:sym typeface="Arial" panose="020B0604020202090204"/>
            </a:endParaRPr>
          </a:p>
          <a:p>
            <a:pPr marL="285750" marR="0" lvl="0" indent="-285750" algn="l" rtl="0">
              <a:lnSpc>
                <a:spcPct val="100000"/>
              </a:lnSpc>
              <a:spcBef>
                <a:spcPts val="0"/>
              </a:spcBef>
              <a:spcAft>
                <a:spcPts val="0"/>
              </a:spcAft>
              <a:buClr>
                <a:srgbClr val="000000"/>
              </a:buClr>
              <a:buSzPts val="1800"/>
              <a:buFont typeface="Arial" panose="020B0604020202090204"/>
              <a:buChar char="•"/>
            </a:pPr>
            <a:r>
              <a:rPr lang="en-US" sz="1800" b="1" i="0" u="none" strike="noStrike" cap="none">
                <a:solidFill>
                  <a:srgbClr val="000000"/>
                </a:solidFill>
                <a:latin typeface="Arial Bold" panose="020B0604020202090204" charset="0"/>
                <a:ea typeface="Arial" panose="020B0604020202090204"/>
                <a:cs typeface="Arial Bold" panose="020B0604020202090204" charset="0"/>
                <a:sym typeface="Arial" panose="020B0604020202090204"/>
              </a:rPr>
              <a:t>Python Flask</a:t>
            </a:r>
            <a:r>
              <a:rPr lang="en-US" sz="1800" i="0" u="none" strike="noStrike" cap="none">
                <a:solidFill>
                  <a:srgbClr val="000000"/>
                </a:solidFill>
                <a:latin typeface="Arial" panose="020B0604020202090204"/>
                <a:ea typeface="Arial" panose="020B0604020202090204"/>
                <a:cs typeface="Arial" panose="020B0604020202090204"/>
                <a:sym typeface="Arial" panose="020B0604020202090204"/>
              </a:rPr>
              <a:t> – Used to build the backend APIs, manage application logic, user sessions, meal planning, BMI &amp; TDEE calculations, and AI integration.</a:t>
            </a:r>
            <a:endParaRPr lang="en-US" sz="1800" i="0" u="none" strike="noStrike" cap="none">
              <a:solidFill>
                <a:srgbClr val="000000"/>
              </a:solidFill>
              <a:latin typeface="Arial" panose="020B0604020202090204"/>
              <a:ea typeface="Arial" panose="020B0604020202090204"/>
              <a:cs typeface="Arial" panose="020B0604020202090204"/>
              <a:sym typeface="Arial" panose="020B0604020202090204"/>
            </a:endParaRPr>
          </a:p>
          <a:p>
            <a:pPr marL="285750" marR="0" lvl="0" indent="-285750" algn="l" rtl="0">
              <a:lnSpc>
                <a:spcPct val="100000"/>
              </a:lnSpc>
              <a:spcBef>
                <a:spcPts val="0"/>
              </a:spcBef>
              <a:spcAft>
                <a:spcPts val="0"/>
              </a:spcAft>
              <a:buClr>
                <a:srgbClr val="000000"/>
              </a:buClr>
              <a:buSzPts val="1800"/>
              <a:buFont typeface="Arial" panose="020B0604020202090204"/>
              <a:buChar char="•"/>
            </a:pPr>
            <a:r>
              <a:rPr lang="en-US" sz="1800" b="1" i="0" u="none" strike="noStrike" cap="none">
                <a:solidFill>
                  <a:srgbClr val="000000"/>
                </a:solidFill>
                <a:latin typeface="Arial Bold" panose="020B0604020202090204" charset="0"/>
                <a:ea typeface="Arial" panose="020B0604020202090204"/>
                <a:cs typeface="Arial Bold" panose="020B0604020202090204" charset="0"/>
                <a:sym typeface="Arial" panose="020B0604020202090204"/>
              </a:rPr>
              <a:t>Bootstrap 5, HTML, CSS &amp; JavaScript</a:t>
            </a:r>
            <a:r>
              <a:rPr lang="en-US" sz="1800" i="0" u="none" strike="noStrike" cap="none">
                <a:solidFill>
                  <a:srgbClr val="000000"/>
                </a:solidFill>
                <a:latin typeface="Arial" panose="020B0604020202090204"/>
                <a:ea typeface="Arial" panose="020B0604020202090204"/>
                <a:cs typeface="Arial" panose="020B0604020202090204"/>
                <a:sym typeface="Arial" panose="020B0604020202090204"/>
              </a:rPr>
              <a:t> – Used to build a responsive and interactive user interface with chat, dashboard, meal planner, voice input, and food image upload features.</a:t>
            </a:r>
            <a:endParaRPr lang="en-US" sz="1800" i="0" u="none" strike="noStrike" cap="none">
              <a:solidFill>
                <a:srgbClr val="000000"/>
              </a:solidFill>
              <a:latin typeface="Arial" panose="020B0604020202090204"/>
              <a:ea typeface="Arial" panose="020B0604020202090204"/>
              <a:cs typeface="Arial" panose="020B0604020202090204"/>
              <a:sym typeface="Arial" panose="020B0604020202090204"/>
            </a:endParaRPr>
          </a:p>
          <a:p>
            <a:pPr marL="285750" marR="0" lvl="0" indent="-285750" algn="l" rtl="0">
              <a:lnSpc>
                <a:spcPct val="100000"/>
              </a:lnSpc>
              <a:spcBef>
                <a:spcPts val="0"/>
              </a:spcBef>
              <a:spcAft>
                <a:spcPts val="0"/>
              </a:spcAft>
              <a:buClr>
                <a:srgbClr val="000000"/>
              </a:buClr>
              <a:buSzPts val="1800"/>
              <a:buFont typeface="Arial" panose="020B0604020202090204"/>
              <a:buChar char="•"/>
            </a:pPr>
            <a:r>
              <a:rPr lang="en-US" sz="1800" b="1" i="0" u="none" strike="noStrike" cap="none">
                <a:solidFill>
                  <a:srgbClr val="000000"/>
                </a:solidFill>
                <a:latin typeface="Arial Bold" panose="020B0604020202090204" charset="0"/>
                <a:ea typeface="Arial" panose="020B0604020202090204"/>
                <a:cs typeface="Arial Bold" panose="020B0604020202090204" charset="0"/>
                <a:sym typeface="Arial" panose="020B0604020202090204"/>
              </a:rPr>
              <a:t>Session-based Feedback System</a:t>
            </a:r>
            <a:r>
              <a:rPr lang="en-US" sz="1800" i="0" u="none" strike="noStrike" cap="none">
                <a:solidFill>
                  <a:srgbClr val="000000"/>
                </a:solidFill>
                <a:latin typeface="Arial" panose="020B0604020202090204"/>
                <a:ea typeface="Arial" panose="020B0604020202090204"/>
                <a:cs typeface="Arial" panose="020B0604020202090204"/>
                <a:sym typeface="Arial" panose="020B0604020202090204"/>
              </a:rPr>
              <a:t> – Stores user preferences during the active session to provide adaptive nutrition recommendations and improve subsequent AI responses.</a:t>
            </a:r>
            <a:endParaRPr lang="en-US" sz="180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12" name="Shape 112"/>
        <p:cNvGrpSpPr/>
        <p:nvPr/>
      </p:nvGrpSpPr>
      <p:grpSpPr>
        <a:xfrm>
          <a:off x="0" y="0"/>
          <a:ext cx="0" cy="0"/>
          <a:chOff x="0" y="0"/>
          <a:chExt cx="0" cy="0"/>
        </a:xfrm>
      </p:grpSpPr>
      <p:sp>
        <p:nvSpPr>
          <p:cNvPr id="113" name="Google Shape;113;p37"/>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panose="02020503050405090304"/>
              <a:buNone/>
            </a:pPr>
            <a:r>
              <a:rPr lang="en-US" sz="2400" b="1" i="0" u="none" strike="noStrike" cap="none">
                <a:solidFill>
                  <a:srgbClr val="000000"/>
                </a:solidFill>
                <a:latin typeface="Arial" panose="020B0604020202090204"/>
                <a:ea typeface="Arial" panose="020B0604020202090204"/>
                <a:cs typeface="Arial" panose="020B0604020202090204"/>
                <a:sym typeface="Arial" panose="020B0604020202090204"/>
              </a:rPr>
              <a:t>Components Used -</a:t>
            </a:r>
            <a:endParaRPr sz="2400" b="1"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14" name="Google Shape;114;p37"/>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000"/>
              </a:lnSpc>
              <a:spcBef>
                <a:spcPts val="0"/>
              </a:spcBef>
              <a:spcAft>
                <a:spcPts val="0"/>
              </a:spcAft>
              <a:buClr>
                <a:schemeClr val="dk1"/>
              </a:buClr>
              <a:buSzPts val="1600"/>
              <a:buFont typeface="Calibri"/>
              <a:buNone/>
            </a:pPr>
            <a:endParaRPr sz="1600" b="0" i="0" u="none" strike="noStrike" cap="none">
              <a:solidFill>
                <a:srgbClr val="000000"/>
              </a:solidFill>
              <a:latin typeface="Times New Roman" panose="02020503050405090304"/>
              <a:ea typeface="Times New Roman" panose="02020503050405090304"/>
              <a:cs typeface="Times New Roman" panose="02020503050405090304"/>
              <a:sym typeface="Times New Roman" panose="02020503050405090304"/>
            </a:endParaRPr>
          </a:p>
        </p:txBody>
      </p:sp>
      <p:sp>
        <p:nvSpPr>
          <p:cNvPr id="115" name="Google Shape;115;p37"/>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9000"/>
              </a:lnSpc>
              <a:spcBef>
                <a:spcPts val="0"/>
              </a:spcBef>
              <a:spcAft>
                <a:spcPts val="0"/>
              </a:spcAft>
              <a:buClr>
                <a:schemeClr val="dk1"/>
              </a:buClr>
              <a:buSzPts val="1600"/>
              <a:buFont typeface="Calibri"/>
              <a:buNone/>
            </a:pPr>
            <a:endParaRPr sz="1600" b="0" i="0" u="none" strike="noStrike" cap="none">
              <a:solidFill>
                <a:srgbClr val="000000"/>
              </a:solidFill>
              <a:latin typeface="Times New Roman" panose="02020503050405090304"/>
              <a:ea typeface="Times New Roman" panose="02020503050405090304"/>
              <a:cs typeface="Times New Roman" panose="02020503050405090304"/>
              <a:sym typeface="Times New Roman" panose="02020503050405090304"/>
            </a:endParaRPr>
          </a:p>
        </p:txBody>
      </p:sp>
      <p:sp>
        <p:nvSpPr>
          <p:cNvPr id="116" name="Google Shape;116;p37"/>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000"/>
              </a:lnSpc>
              <a:spcBef>
                <a:spcPts val="0"/>
              </a:spcBef>
              <a:spcAft>
                <a:spcPts val="0"/>
              </a:spcAft>
              <a:buClr>
                <a:schemeClr val="dk1"/>
              </a:buClr>
              <a:buSzPts val="1600"/>
              <a:buFont typeface="Calibri"/>
              <a:buNone/>
            </a:pPr>
            <a:endParaRPr sz="1600" b="0" i="0" u="none" strike="noStrike" cap="none">
              <a:solidFill>
                <a:srgbClr val="000000"/>
              </a:solidFill>
              <a:latin typeface="Times New Roman" panose="02020503050405090304"/>
              <a:ea typeface="Times New Roman" panose="02020503050405090304"/>
              <a:cs typeface="Times New Roman" panose="02020503050405090304"/>
              <a:sym typeface="Times New Roman" panose="02020503050405090304"/>
            </a:endParaRPr>
          </a:p>
        </p:txBody>
      </p:sp>
      <p:sp>
        <p:nvSpPr>
          <p:cNvPr id="117" name="Google Shape;117;p37"/>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9000"/>
              </a:lnSpc>
              <a:spcBef>
                <a:spcPts val="0"/>
              </a:spcBef>
              <a:spcAft>
                <a:spcPts val="0"/>
              </a:spcAft>
              <a:buClr>
                <a:schemeClr val="dk1"/>
              </a:buClr>
              <a:buSzPts val="1600"/>
              <a:buFont typeface="Calibri"/>
              <a:buNone/>
            </a:pPr>
            <a:endParaRPr sz="1600" b="0" i="0" u="none" strike="noStrike" cap="none">
              <a:solidFill>
                <a:srgbClr val="000000"/>
              </a:solidFill>
              <a:latin typeface="Times New Roman" panose="02020503050405090304"/>
              <a:ea typeface="Times New Roman" panose="02020503050405090304"/>
              <a:cs typeface="Times New Roman" panose="02020503050405090304"/>
              <a:sym typeface="Times New Roman" panose="02020503050405090304"/>
            </a:endParaRPr>
          </a:p>
        </p:txBody>
      </p:sp>
      <p:sp>
        <p:nvSpPr>
          <p:cNvPr id="118" name="Google Shape;118;p37"/>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000"/>
              </a:lnSpc>
              <a:spcBef>
                <a:spcPts val="0"/>
              </a:spcBef>
              <a:spcAft>
                <a:spcPts val="0"/>
              </a:spcAft>
              <a:buClr>
                <a:schemeClr val="dk1"/>
              </a:buClr>
              <a:buSzPts val="1600"/>
              <a:buFont typeface="Calibri"/>
              <a:buNone/>
            </a:pPr>
            <a:endParaRPr sz="1600" b="0" i="0" u="none" strike="noStrike" cap="none">
              <a:solidFill>
                <a:srgbClr val="000000"/>
              </a:solidFill>
              <a:latin typeface="Times New Roman" panose="02020503050405090304"/>
              <a:ea typeface="Times New Roman" panose="02020503050405090304"/>
              <a:cs typeface="Times New Roman" panose="02020503050405090304"/>
              <a:sym typeface="Times New Roman" panose="02020503050405090304"/>
            </a:endParaRPr>
          </a:p>
        </p:txBody>
      </p:sp>
      <p:sp>
        <p:nvSpPr>
          <p:cNvPr id="119" name="Google Shape;119;p37"/>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9000"/>
              </a:lnSpc>
              <a:spcBef>
                <a:spcPts val="0"/>
              </a:spcBef>
              <a:spcAft>
                <a:spcPts val="0"/>
              </a:spcAft>
              <a:buClr>
                <a:schemeClr val="dk1"/>
              </a:buClr>
              <a:buSzPts val="1600"/>
              <a:buFont typeface="Calibri"/>
              <a:buNone/>
            </a:pPr>
            <a:endParaRPr sz="1600" b="0" i="0" u="none" strike="noStrike" cap="none">
              <a:solidFill>
                <a:srgbClr val="000000"/>
              </a:solidFill>
              <a:latin typeface="Times New Roman" panose="02020503050405090304"/>
              <a:ea typeface="Times New Roman" panose="02020503050405090304"/>
              <a:cs typeface="Times New Roman" panose="02020503050405090304"/>
              <a:sym typeface="Times New Roman" panose="02020503050405090304"/>
            </a:endParaRPr>
          </a:p>
        </p:txBody>
      </p:sp>
      <p:sp>
        <p:nvSpPr>
          <p:cNvPr id="120" name="Google Shape;120;p37"/>
          <p:cNvSpPr txBox="1"/>
          <p:nvPr/>
        </p:nvSpPr>
        <p:spPr>
          <a:xfrm>
            <a:off x="474822" y="863187"/>
            <a:ext cx="8823960" cy="569150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a:p>
            <a:pPr marL="0" marR="0" lvl="0" indent="0" algn="l" rtl="0">
              <a:lnSpc>
                <a:spcPct val="100000"/>
              </a:lnSpc>
              <a:spcBef>
                <a:spcPts val="0"/>
              </a:spcBef>
              <a:spcAft>
                <a:spcPts val="0"/>
              </a:spcAft>
              <a:buNone/>
            </a:pPr>
            <a:r>
              <a:rPr lang="en-US" sz="1400" b="1" i="0" u="none" strike="noStrike" cap="none">
                <a:solidFill>
                  <a:srgbClr val="000000"/>
                </a:solidFill>
                <a:latin typeface="Arial Bold" panose="020B0604020202090204" charset="0"/>
                <a:ea typeface="Arial" panose="020B0604020202090204"/>
                <a:cs typeface="Arial Bold" panose="020B0604020202090204" charset="0"/>
                <a:sym typeface="Arial" panose="020B0604020202090204"/>
              </a:rPr>
              <a:t>Chat Input </a:t>
            </a:r>
            <a:r>
              <a:rPr lang="en-US" sz="1400" i="0" u="none" strike="noStrike" cap="none">
                <a:solidFill>
                  <a:srgbClr val="000000"/>
                </a:solidFill>
                <a:latin typeface="Arial" panose="020B0604020202090204"/>
                <a:ea typeface="Arial" panose="020B0604020202090204"/>
                <a:cs typeface="Arial" panose="020B0604020202090204"/>
                <a:sym typeface="Arial" panose="020B0604020202090204"/>
              </a:rPr>
              <a:t>– Accepts user queries, health goals, dietary preferences, and nutrition-related questions through text, voice, or food image input.</a:t>
            </a:r>
            <a:endParaRPr lang="en-US" sz="1400" i="0" u="none" strike="noStrike" cap="none">
              <a:solidFill>
                <a:srgbClr val="000000"/>
              </a:solidFill>
              <a:latin typeface="Arial" panose="020B0604020202090204"/>
              <a:ea typeface="Arial" panose="020B0604020202090204"/>
              <a:cs typeface="Arial" panose="020B0604020202090204"/>
              <a:sym typeface="Arial" panose="020B0604020202090204"/>
            </a:endParaRPr>
          </a:p>
          <a:p>
            <a:pPr marL="0" marR="0" lvl="0" indent="0" algn="l" rtl="0">
              <a:lnSpc>
                <a:spcPct val="100000"/>
              </a:lnSpc>
              <a:spcBef>
                <a:spcPts val="0"/>
              </a:spcBef>
              <a:spcAft>
                <a:spcPts val="0"/>
              </a:spcAft>
              <a:buNone/>
            </a:pPr>
            <a:endParaRPr lang="en-US" sz="1400" i="0" u="none" strike="noStrike" cap="none">
              <a:solidFill>
                <a:srgbClr val="000000"/>
              </a:solidFill>
              <a:latin typeface="Arial" panose="020B0604020202090204"/>
              <a:ea typeface="Arial" panose="020B0604020202090204"/>
              <a:cs typeface="Arial" panose="020B0604020202090204"/>
              <a:sym typeface="Arial" panose="020B0604020202090204"/>
            </a:endParaRPr>
          </a:p>
          <a:p>
            <a:pPr marL="0" marR="0" lvl="0" indent="0" algn="l" rtl="0">
              <a:lnSpc>
                <a:spcPct val="100000"/>
              </a:lnSpc>
              <a:spcBef>
                <a:spcPts val="0"/>
              </a:spcBef>
              <a:spcAft>
                <a:spcPts val="0"/>
              </a:spcAft>
              <a:buNone/>
            </a:pPr>
            <a:r>
              <a:rPr lang="en-US" sz="1400" b="1" i="0" u="none" strike="noStrike" cap="none">
                <a:solidFill>
                  <a:srgbClr val="000000"/>
                </a:solidFill>
                <a:latin typeface="Arial Bold" panose="020B0604020202090204" charset="0"/>
                <a:ea typeface="Arial" panose="020B0604020202090204"/>
                <a:cs typeface="Arial Bold" panose="020B0604020202090204" charset="0"/>
                <a:sym typeface="Arial" panose="020B0604020202090204"/>
              </a:rPr>
              <a:t>IBM watsonx AI Agent (IBM BOB)</a:t>
            </a:r>
            <a:r>
              <a:rPr lang="en-US" sz="1400" i="0" u="none" strike="noStrike" cap="none">
                <a:solidFill>
                  <a:srgbClr val="000000"/>
                </a:solidFill>
                <a:latin typeface="Arial" panose="020B0604020202090204"/>
                <a:ea typeface="Arial" panose="020B0604020202090204"/>
                <a:cs typeface="Arial" panose="020B0604020202090204"/>
                <a:sym typeface="Arial" panose="020B0604020202090204"/>
              </a:rPr>
              <a:t> – Processes user inputs and orchestrates the Nutrition Agent workflow to generate personalized nutrition guidance.</a:t>
            </a:r>
            <a:endParaRPr lang="en-US" sz="1400" i="0" u="none" strike="noStrike" cap="none">
              <a:solidFill>
                <a:srgbClr val="000000"/>
              </a:solidFill>
              <a:latin typeface="Arial" panose="020B0604020202090204"/>
              <a:ea typeface="Arial" panose="020B0604020202090204"/>
              <a:cs typeface="Arial" panose="020B0604020202090204"/>
              <a:sym typeface="Arial" panose="020B0604020202090204"/>
            </a:endParaRPr>
          </a:p>
          <a:p>
            <a:pPr marL="0" marR="0" lvl="0" indent="0" algn="l" rtl="0">
              <a:lnSpc>
                <a:spcPct val="100000"/>
              </a:lnSpc>
              <a:spcBef>
                <a:spcPts val="0"/>
              </a:spcBef>
              <a:spcAft>
                <a:spcPts val="0"/>
              </a:spcAft>
              <a:buNone/>
            </a:pPr>
            <a:endParaRPr lang="en-US" sz="1400" i="0" u="none" strike="noStrike" cap="none">
              <a:solidFill>
                <a:srgbClr val="000000"/>
              </a:solidFill>
              <a:latin typeface="Arial" panose="020B0604020202090204"/>
              <a:ea typeface="Arial" panose="020B0604020202090204"/>
              <a:cs typeface="Arial" panose="020B0604020202090204"/>
              <a:sym typeface="Arial" panose="020B0604020202090204"/>
            </a:endParaRPr>
          </a:p>
          <a:p>
            <a:pPr marL="0" marR="0" lvl="0" indent="0" algn="l" rtl="0">
              <a:lnSpc>
                <a:spcPct val="100000"/>
              </a:lnSpc>
              <a:spcBef>
                <a:spcPts val="0"/>
              </a:spcBef>
              <a:spcAft>
                <a:spcPts val="0"/>
              </a:spcAft>
              <a:buNone/>
            </a:pPr>
            <a:r>
              <a:rPr lang="en-US" sz="1400" b="1" i="0" u="none" strike="noStrike" cap="none">
                <a:solidFill>
                  <a:srgbClr val="000000"/>
                </a:solidFill>
                <a:latin typeface="Arial Bold" panose="020B0604020202090204" charset="0"/>
                <a:ea typeface="Arial" panose="020B0604020202090204"/>
                <a:cs typeface="Arial Bold" panose="020B0604020202090204" charset="0"/>
                <a:sym typeface="Arial" panose="020B0604020202090204"/>
              </a:rPr>
              <a:t>Foundation Model </a:t>
            </a:r>
            <a:r>
              <a:rPr lang="en-US" sz="1400" i="0" u="none" strike="noStrike" cap="none">
                <a:solidFill>
                  <a:srgbClr val="000000"/>
                </a:solidFill>
                <a:latin typeface="Arial" panose="020B0604020202090204"/>
                <a:ea typeface="Arial" panose="020B0604020202090204"/>
                <a:cs typeface="Arial" panose="020B0604020202090204"/>
                <a:sym typeface="Arial" panose="020B0604020202090204"/>
              </a:rPr>
              <a:t>– Meta Llama 3.3 70B Instruct (or replace with the exact model currently configured in your .env if different) – Used for natural language understanding, meal planning, nutrition reasoning, and personalized recommendations.</a:t>
            </a:r>
            <a:endParaRPr lang="en-US" sz="1400" i="0" u="none" strike="noStrike" cap="none">
              <a:solidFill>
                <a:srgbClr val="000000"/>
              </a:solidFill>
              <a:latin typeface="Arial" panose="020B0604020202090204"/>
              <a:ea typeface="Arial" panose="020B0604020202090204"/>
              <a:cs typeface="Arial" panose="020B0604020202090204"/>
              <a:sym typeface="Arial" panose="020B0604020202090204"/>
            </a:endParaRPr>
          </a:p>
          <a:p>
            <a:pPr marL="0" marR="0" lvl="0" indent="0" algn="l" rtl="0">
              <a:lnSpc>
                <a:spcPct val="100000"/>
              </a:lnSpc>
              <a:spcBef>
                <a:spcPts val="0"/>
              </a:spcBef>
              <a:spcAft>
                <a:spcPts val="0"/>
              </a:spcAft>
              <a:buNone/>
            </a:pPr>
            <a:endParaRPr lang="en-US" sz="1400" i="0" u="none" strike="noStrike" cap="none">
              <a:solidFill>
                <a:srgbClr val="000000"/>
              </a:solidFill>
              <a:latin typeface="Arial" panose="020B0604020202090204"/>
              <a:ea typeface="Arial" panose="020B0604020202090204"/>
              <a:cs typeface="Arial" panose="020B0604020202090204"/>
              <a:sym typeface="Arial" panose="020B0604020202090204"/>
            </a:endParaRPr>
          </a:p>
          <a:p>
            <a:pPr marL="0" marR="0" lvl="0" indent="0" algn="l" rtl="0">
              <a:lnSpc>
                <a:spcPct val="100000"/>
              </a:lnSpc>
              <a:spcBef>
                <a:spcPts val="0"/>
              </a:spcBef>
              <a:spcAft>
                <a:spcPts val="0"/>
              </a:spcAft>
              <a:buNone/>
            </a:pPr>
            <a:r>
              <a:rPr lang="en-US" sz="1400" b="1" i="0" u="none" strike="noStrike" cap="none">
                <a:solidFill>
                  <a:srgbClr val="000000"/>
                </a:solidFill>
                <a:latin typeface="Arial Bold" panose="020B0604020202090204" charset="0"/>
                <a:ea typeface="Arial" panose="020B0604020202090204"/>
                <a:cs typeface="Arial Bold" panose="020B0604020202090204" charset="0"/>
                <a:sym typeface="Arial" panose="020B0604020202090204"/>
              </a:rPr>
              <a:t>Chat Output </a:t>
            </a:r>
            <a:r>
              <a:rPr lang="en-US" sz="1400" i="0" u="none" strike="noStrike" cap="none">
                <a:solidFill>
                  <a:srgbClr val="000000"/>
                </a:solidFill>
                <a:latin typeface="Arial" panose="020B0604020202090204"/>
                <a:ea typeface="Arial" panose="020B0604020202090204"/>
                <a:cs typeface="Arial" panose="020B0604020202090204"/>
                <a:sym typeface="Arial" panose="020B0604020202090204"/>
              </a:rPr>
              <a:t>– Displays AI-generated meal plans, nutrition analysis, smart food swaps, contextual explanations, and health recommendations.</a:t>
            </a:r>
            <a:endParaRPr lang="en-US" sz="1400" i="0" u="none" strike="noStrike" cap="none">
              <a:solidFill>
                <a:srgbClr val="000000"/>
              </a:solidFill>
              <a:latin typeface="Arial" panose="020B0604020202090204"/>
              <a:ea typeface="Arial" panose="020B0604020202090204"/>
              <a:cs typeface="Arial" panose="020B0604020202090204"/>
              <a:sym typeface="Arial" panose="020B0604020202090204"/>
            </a:endParaRPr>
          </a:p>
          <a:p>
            <a:pPr marL="0" marR="0" lvl="0" indent="0" algn="l" rtl="0">
              <a:lnSpc>
                <a:spcPct val="100000"/>
              </a:lnSpc>
              <a:spcBef>
                <a:spcPts val="0"/>
              </a:spcBef>
              <a:spcAft>
                <a:spcPts val="0"/>
              </a:spcAft>
              <a:buNone/>
            </a:pPr>
            <a:endParaRPr lang="en-US" sz="1400" i="0" u="none" strike="noStrike" cap="none">
              <a:solidFill>
                <a:srgbClr val="000000"/>
              </a:solidFill>
              <a:latin typeface="Arial" panose="020B0604020202090204"/>
              <a:ea typeface="Arial" panose="020B0604020202090204"/>
              <a:cs typeface="Arial" panose="020B0604020202090204"/>
              <a:sym typeface="Arial" panose="020B0604020202090204"/>
            </a:endParaRPr>
          </a:p>
          <a:p>
            <a:pPr marL="0" marR="0" lvl="0" indent="0" algn="l" rtl="0">
              <a:lnSpc>
                <a:spcPct val="100000"/>
              </a:lnSpc>
              <a:spcBef>
                <a:spcPts val="0"/>
              </a:spcBef>
              <a:spcAft>
                <a:spcPts val="0"/>
              </a:spcAft>
              <a:buNone/>
            </a:pPr>
            <a:r>
              <a:rPr lang="en-US" sz="1400" b="1" i="0" u="none" strike="noStrike" cap="none">
                <a:solidFill>
                  <a:srgbClr val="000000"/>
                </a:solidFill>
                <a:latin typeface="Arial Bold" panose="020B0604020202090204" charset="0"/>
                <a:ea typeface="Arial" panose="020B0604020202090204"/>
                <a:cs typeface="Arial Bold" panose="020B0604020202090204" charset="0"/>
                <a:sym typeface="Arial" panose="020B0604020202090204"/>
              </a:rPr>
              <a:t>File/Image Upload</a:t>
            </a:r>
            <a:r>
              <a:rPr lang="en-US" sz="1400" i="0" u="none" strike="noStrike" cap="none">
                <a:solidFill>
                  <a:srgbClr val="000000"/>
                </a:solidFill>
                <a:latin typeface="Arial" panose="020B0604020202090204"/>
                <a:ea typeface="Arial" panose="020B0604020202090204"/>
                <a:cs typeface="Arial" panose="020B0604020202090204"/>
                <a:sym typeface="Arial" panose="020B0604020202090204"/>
              </a:rPr>
              <a:t> – Allows users to upload food images for nutrition analysis. If automatic recognition is unavailable, the user can manually enter the food name for AI-powered analysis.</a:t>
            </a:r>
            <a:endParaRPr lang="en-US" sz="1400" i="0" u="none" strike="noStrike" cap="none">
              <a:solidFill>
                <a:srgbClr val="000000"/>
              </a:solidFill>
              <a:latin typeface="Arial" panose="020B0604020202090204"/>
              <a:ea typeface="Arial" panose="020B0604020202090204"/>
              <a:cs typeface="Arial" panose="020B0604020202090204"/>
              <a:sym typeface="Arial" panose="020B0604020202090204"/>
            </a:endParaRPr>
          </a:p>
          <a:p>
            <a:pPr marL="0" marR="0" lvl="0" indent="0" algn="l" rtl="0">
              <a:lnSpc>
                <a:spcPct val="100000"/>
              </a:lnSpc>
              <a:spcBef>
                <a:spcPts val="0"/>
              </a:spcBef>
              <a:spcAft>
                <a:spcPts val="0"/>
              </a:spcAft>
              <a:buNone/>
            </a:pPr>
            <a:endParaRPr lang="en-US" sz="1400" i="0" u="none" strike="noStrike" cap="none">
              <a:solidFill>
                <a:srgbClr val="000000"/>
              </a:solidFill>
              <a:latin typeface="Arial" panose="020B0604020202090204"/>
              <a:ea typeface="Arial" panose="020B0604020202090204"/>
              <a:cs typeface="Arial" panose="020B0604020202090204"/>
              <a:sym typeface="Arial" panose="020B0604020202090204"/>
            </a:endParaRPr>
          </a:p>
          <a:p>
            <a:pPr marL="0" marR="0" lvl="0" indent="0" algn="l" rtl="0">
              <a:lnSpc>
                <a:spcPct val="100000"/>
              </a:lnSpc>
              <a:spcBef>
                <a:spcPts val="0"/>
              </a:spcBef>
              <a:spcAft>
                <a:spcPts val="0"/>
              </a:spcAft>
              <a:buNone/>
            </a:pPr>
            <a:r>
              <a:rPr lang="en-US" sz="1400" b="1" i="0" u="none" strike="noStrike" cap="none">
                <a:solidFill>
                  <a:srgbClr val="000000"/>
                </a:solidFill>
                <a:latin typeface="Arial Bold" panose="020B0604020202090204" charset="0"/>
                <a:ea typeface="Arial" panose="020B0604020202090204"/>
                <a:cs typeface="Arial Bold" panose="020B0604020202090204" charset="0"/>
                <a:sym typeface="Arial" panose="020B0604020202090204"/>
              </a:rPr>
              <a:t>Session Memory / Feedback Component </a:t>
            </a:r>
            <a:r>
              <a:rPr lang="en-US" sz="1400" i="0" u="none" strike="noStrike" cap="none">
                <a:solidFill>
                  <a:srgbClr val="000000"/>
                </a:solidFill>
                <a:latin typeface="Arial" panose="020B0604020202090204"/>
                <a:ea typeface="Arial" panose="020B0604020202090204"/>
                <a:cs typeface="Arial" panose="020B0604020202090204"/>
                <a:sym typeface="Arial" panose="020B0604020202090204"/>
              </a:rPr>
              <a:t>– Stores user preferences and feedback during the current session to support adaptive nutrition recommendations and personalized responses.</a:t>
            </a:r>
            <a:endParaRPr lang="en-US" sz="1400" i="0" u="none" strike="noStrike" cap="none">
              <a:solidFill>
                <a:srgbClr val="000000"/>
              </a:solidFill>
              <a:latin typeface="Arial" panose="020B0604020202090204"/>
              <a:ea typeface="Arial" panose="020B0604020202090204"/>
              <a:cs typeface="Arial" panose="020B0604020202090204"/>
              <a:sym typeface="Arial" panose="020B0604020202090204"/>
            </a:endParaRPr>
          </a:p>
          <a:p>
            <a:pPr marL="0" marR="0" lvl="0" indent="0" algn="l" rtl="0">
              <a:lnSpc>
                <a:spcPct val="100000"/>
              </a:lnSpc>
              <a:spcBef>
                <a:spcPts val="0"/>
              </a:spcBef>
              <a:spcAft>
                <a:spcPts val="0"/>
              </a:spcAft>
              <a:buNone/>
            </a:pP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a:p>
            <a:pPr marL="0" marR="0" lvl="0" indent="0" algn="l" rtl="0">
              <a:lnSpc>
                <a:spcPct val="100000"/>
              </a:lnSpc>
              <a:spcBef>
                <a:spcPts val="0"/>
              </a:spcBef>
              <a:spcAft>
                <a:spcPts val="0"/>
              </a:spcAft>
              <a:buNone/>
            </a:pP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a:p>
            <a:pPr marL="0" marR="0" lvl="0" indent="0" algn="l" rtl="0">
              <a:lnSpc>
                <a:spcPct val="100000"/>
              </a:lnSpc>
              <a:spcBef>
                <a:spcPts val="0"/>
              </a:spcBef>
              <a:spcAft>
                <a:spcPts val="0"/>
              </a:spcAft>
              <a:buNone/>
            </a:pP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a:p>
            <a:pPr marL="0" marR="0" lvl="0" indent="0" algn="l" rtl="0">
              <a:lnSpc>
                <a:spcPct val="100000"/>
              </a:lnSpc>
              <a:spcBef>
                <a:spcPts val="0"/>
              </a:spcBef>
              <a:spcAft>
                <a:spcPts val="0"/>
              </a:spcAft>
              <a:buNone/>
            </a:pP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a:p>
            <a:pPr marL="0" marR="0" lvl="0" indent="0" algn="l" rtl="0">
              <a:lnSpc>
                <a:spcPct val="100000"/>
              </a:lnSpc>
              <a:spcBef>
                <a:spcPts val="0"/>
              </a:spcBef>
              <a:spcAft>
                <a:spcPts val="0"/>
              </a:spcAft>
              <a:buNone/>
            </a:pP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a:p>
            <a:pPr marL="0" marR="0" lvl="0" indent="0" algn="l" rtl="0">
              <a:lnSpc>
                <a:spcPct val="100000"/>
              </a:lnSpc>
              <a:spcBef>
                <a:spcPts val="0"/>
              </a:spcBef>
              <a:spcAft>
                <a:spcPts val="0"/>
              </a:spcAft>
              <a:buNone/>
            </a:pP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a:p>
            <a:pPr marL="0" marR="0" lvl="0" indent="0" algn="l" rtl="0">
              <a:lnSpc>
                <a:spcPct val="100000"/>
              </a:lnSpc>
              <a:spcBef>
                <a:spcPts val="0"/>
              </a:spcBef>
              <a:spcAft>
                <a:spcPts val="0"/>
              </a:spcAft>
              <a:buNone/>
            </a:pPr>
            <a:r>
              <a:rPr lang="en-US" sz="1400" b="0" i="0" u="none" strike="noStrike" cap="none">
                <a:solidFill>
                  <a:srgbClr val="000000"/>
                </a:solidFill>
                <a:latin typeface="Arial" panose="020B0604020202090204"/>
                <a:ea typeface="Arial" panose="020B0604020202090204"/>
                <a:cs typeface="Arial" panose="020B0604020202090204"/>
                <a:sym typeface="Arial" panose="020B0604020202090204"/>
              </a:rPr>
              <a:t> </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24" name="Shape 124"/>
        <p:cNvGrpSpPr/>
        <p:nvPr/>
      </p:nvGrpSpPr>
      <p:grpSpPr>
        <a:xfrm>
          <a:off x="0" y="0"/>
          <a:ext cx="0" cy="0"/>
          <a:chOff x="0" y="0"/>
          <a:chExt cx="0" cy="0"/>
        </a:xfrm>
      </p:grpSpPr>
      <p:sp>
        <p:nvSpPr>
          <p:cNvPr id="125" name="Google Shape;125;p38"/>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panose="02020503050405090304"/>
              <a:buNone/>
            </a:pPr>
            <a:r>
              <a:rPr lang="en-US" sz="2400" b="1" i="0" u="none" strike="noStrike" cap="none">
                <a:solidFill>
                  <a:srgbClr val="000000"/>
                </a:solidFill>
                <a:latin typeface="Arial" panose="020B0604020202090204"/>
                <a:ea typeface="Arial" panose="020B0604020202090204"/>
                <a:cs typeface="Arial" panose="020B0604020202090204"/>
                <a:sym typeface="Arial" panose="020B0604020202090204"/>
              </a:rPr>
              <a:t>Langflow</a:t>
            </a:r>
            <a:r>
              <a:rPr lang="en-US" sz="3500" b="1" i="0" u="none" strike="noStrike" cap="none">
                <a:solidFill>
                  <a:srgbClr val="051D3A"/>
                </a:solidFill>
                <a:latin typeface="Times New Roman" panose="02020503050405090304"/>
                <a:ea typeface="Times New Roman" panose="02020503050405090304"/>
                <a:cs typeface="Times New Roman" panose="02020503050405090304"/>
                <a:sym typeface="Times New Roman" panose="02020503050405090304"/>
              </a:rPr>
              <a:t> </a:t>
            </a:r>
            <a:r>
              <a:rPr lang="en-US" sz="2400" b="1" i="0" u="none" strike="noStrike" cap="none">
                <a:solidFill>
                  <a:srgbClr val="000000"/>
                </a:solidFill>
                <a:latin typeface="Arial" panose="020B0604020202090204"/>
                <a:ea typeface="Arial" panose="020B0604020202090204"/>
                <a:cs typeface="Arial" panose="020B0604020202090204"/>
                <a:sym typeface="Arial" panose="020B0604020202090204"/>
              </a:rPr>
              <a:t>workflow -</a:t>
            </a:r>
            <a:endParaRPr sz="2400" b="1"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2" name="Text Box 1"/>
          <p:cNvSpPr txBox="1"/>
          <p:nvPr/>
        </p:nvSpPr>
        <p:spPr>
          <a:xfrm>
            <a:off x="3891280" y="1204595"/>
            <a:ext cx="5252720" cy="5413375"/>
          </a:xfrm>
          <a:prstGeom prst="rect">
            <a:avLst/>
          </a:prstGeom>
          <a:noFill/>
        </p:spPr>
        <p:txBody>
          <a:bodyPr wrap="square" rtlCol="0" anchor="t">
            <a:noAutofit/>
          </a:bodyPr>
          <a:p>
            <a:r>
              <a:rPr lang="en-US" sz="1200"/>
              <a:t>User</a:t>
            </a:r>
            <a:endParaRPr lang="en-US" sz="1200"/>
          </a:p>
          <a:p>
            <a:r>
              <a:rPr lang="en-US" sz="1200"/>
              <a:t>   │</a:t>
            </a:r>
            <a:endParaRPr lang="en-US" sz="1200"/>
          </a:p>
          <a:p>
            <a:r>
              <a:rPr lang="en-US" sz="1200"/>
              <a:t>  ▼</a:t>
            </a:r>
            <a:endParaRPr lang="en-US" sz="1200"/>
          </a:p>
          <a:p>
            <a:r>
              <a:rPr lang="en-US" sz="1200"/>
              <a:t>Chat Input</a:t>
            </a:r>
            <a:endParaRPr lang="en-US" sz="1200"/>
          </a:p>
          <a:p>
            <a:r>
              <a:rPr lang="en-US" sz="1200"/>
              <a:t>(Text / Voice / Food Image)</a:t>
            </a:r>
            <a:endParaRPr lang="en-US" sz="1200"/>
          </a:p>
          <a:p>
            <a:r>
              <a:rPr lang="en-US" sz="1200"/>
              <a:t>   │</a:t>
            </a:r>
            <a:endParaRPr lang="en-US" sz="1200"/>
          </a:p>
          <a:p>
            <a:r>
              <a:rPr lang="en-US" sz="1200"/>
              <a:t>  ▼</a:t>
            </a:r>
            <a:endParaRPr lang="en-US" sz="1200"/>
          </a:p>
          <a:p>
            <a:r>
              <a:rPr lang="en-US" sz="1200"/>
              <a:t>IBM BOB Nutrition Agent</a:t>
            </a:r>
            <a:endParaRPr lang="en-US" sz="1200"/>
          </a:p>
          <a:p>
            <a:r>
              <a:rPr lang="en-US" sz="1200"/>
              <a:t>   │</a:t>
            </a:r>
            <a:endParaRPr lang="en-US" sz="1200"/>
          </a:p>
          <a:p>
            <a:r>
              <a:rPr lang="en-US" sz="1200"/>
              <a:t>  ▼</a:t>
            </a:r>
            <a:endParaRPr lang="en-US" sz="1200"/>
          </a:p>
          <a:p>
            <a:r>
              <a:rPr lang="en-US" sz="1200"/>
              <a:t>IBM Granite Model (watsonx.ai)</a:t>
            </a:r>
            <a:endParaRPr lang="en-US" sz="1200"/>
          </a:p>
          <a:p>
            <a:r>
              <a:rPr lang="en-US" sz="1200"/>
              <a:t>   </a:t>
            </a:r>
            <a:r>
              <a:rPr lang="en-US" sz="1200">
                <a:sym typeface="+mn-ea"/>
              </a:rPr>
              <a:t>│                        </a:t>
            </a:r>
            <a:endParaRPr lang="en-US" sz="1200"/>
          </a:p>
          <a:p>
            <a:r>
              <a:rPr lang="en-US" sz="1200">
                <a:sym typeface="+mn-ea"/>
              </a:rPr>
              <a:t>   </a:t>
            </a:r>
            <a:r>
              <a:rPr lang="en-US" sz="1200">
                <a:sym typeface="+mn-ea"/>
              </a:rPr>
              <a:t>│</a:t>
            </a:r>
            <a:r>
              <a:rPr lang="en-US" sz="1200"/>
              <a:t>──────</a:t>
            </a:r>
            <a:r>
              <a:rPr lang="en-US" sz="1200">
                <a:sym typeface="+mn-ea"/>
              </a:rPr>
              <a:t>────│</a:t>
            </a:r>
            <a:endParaRPr lang="en-US" sz="1200"/>
          </a:p>
          <a:p>
            <a:r>
              <a:rPr lang="en-US" sz="1200"/>
              <a:t>  ▼                        ▼</a:t>
            </a:r>
            <a:endParaRPr lang="en-US" sz="1200"/>
          </a:p>
          <a:p>
            <a:r>
              <a:rPr lang="en-US" sz="1200"/>
              <a:t>Meal Planner   Nutrition Q&amp;A</a:t>
            </a:r>
            <a:endParaRPr lang="en-US" sz="1200"/>
          </a:p>
          <a:p>
            <a:r>
              <a:rPr lang="en-US" sz="1200"/>
              <a:t>   │                        </a:t>
            </a:r>
            <a:endParaRPr lang="en-US" sz="1200"/>
          </a:p>
          <a:p>
            <a:r>
              <a:rPr lang="en-US" sz="1200"/>
              <a:t>   </a:t>
            </a:r>
            <a:r>
              <a:rPr lang="en-US" sz="1200">
                <a:sym typeface="+mn-ea"/>
              </a:rPr>
              <a:t>│</a:t>
            </a:r>
            <a:r>
              <a:rPr lang="en-US" sz="1200"/>
              <a:t>────────┤ </a:t>
            </a:r>
            <a:endParaRPr lang="en-US" sz="1200"/>
          </a:p>
          <a:p>
            <a:r>
              <a:rPr lang="en-US" sz="1200"/>
              <a:t>  ▼</a:t>
            </a:r>
            <a:endParaRPr lang="en-US" sz="1200"/>
          </a:p>
          <a:p>
            <a:r>
              <a:rPr lang="en-US" sz="1200"/>
              <a:t>BMI &amp; TDEE Calculator</a:t>
            </a:r>
            <a:endParaRPr lang="en-US" sz="1200"/>
          </a:p>
          <a:p>
            <a:r>
              <a:rPr lang="en-US" sz="1200"/>
              <a:t>   │</a:t>
            </a:r>
            <a:endParaRPr lang="en-US" sz="1200"/>
          </a:p>
          <a:p>
            <a:r>
              <a:rPr lang="en-US" sz="1200"/>
              <a:t>  ▼</a:t>
            </a:r>
            <a:endParaRPr lang="en-US" sz="1200"/>
          </a:p>
          <a:p>
            <a:r>
              <a:rPr lang="en-US" sz="1200"/>
              <a:t>Smart Food Swaps</a:t>
            </a:r>
            <a:endParaRPr lang="en-US" sz="1200"/>
          </a:p>
          <a:p>
            <a:r>
              <a:rPr lang="en-US" sz="1200"/>
              <a:t>   │</a:t>
            </a:r>
            <a:endParaRPr lang="en-US" sz="1200"/>
          </a:p>
          <a:p>
            <a:r>
              <a:rPr lang="en-US" sz="1200"/>
              <a:t>  ▼</a:t>
            </a:r>
            <a:endParaRPr lang="en-US" sz="1200"/>
          </a:p>
          <a:p>
            <a:r>
              <a:rPr lang="en-US" sz="1200"/>
              <a:t>Adaptive Recommendation</a:t>
            </a:r>
            <a:endParaRPr lang="en-US" sz="1200"/>
          </a:p>
          <a:p>
            <a:r>
              <a:rPr lang="en-US" sz="1200"/>
              <a:t>(User Feedback)</a:t>
            </a:r>
            <a:endParaRPr lang="en-US" sz="1200"/>
          </a:p>
          <a:p>
            <a:r>
              <a:rPr lang="en-US" sz="1200"/>
              <a:t>   │</a:t>
            </a:r>
            <a:endParaRPr lang="en-US" sz="1200"/>
          </a:p>
          <a:p>
            <a:r>
              <a:rPr lang="en-US" sz="1200"/>
              <a:t>  ▼</a:t>
            </a:r>
            <a:endParaRPr lang="en-US" sz="1200"/>
          </a:p>
          <a:p>
            <a:r>
              <a:rPr lang="en-US" sz="1200"/>
              <a:t>Chat Output</a:t>
            </a:r>
            <a:endParaRPr lang="en-US" sz="12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30" name="Shape 130"/>
        <p:cNvGrpSpPr/>
        <p:nvPr/>
      </p:nvGrpSpPr>
      <p:grpSpPr>
        <a:xfrm>
          <a:off x="0" y="0"/>
          <a:ext cx="0" cy="0"/>
          <a:chOff x="0" y="0"/>
          <a:chExt cx="0" cy="0"/>
        </a:xfrm>
      </p:grpSpPr>
      <p:sp>
        <p:nvSpPr>
          <p:cNvPr id="131" name="Google Shape;131;p7"/>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2400" b="1" i="0" u="none" strike="noStrike" cap="none">
                <a:solidFill>
                  <a:schemeClr val="dk1"/>
                </a:solidFill>
                <a:latin typeface="Calibri"/>
                <a:ea typeface="Calibri"/>
                <a:cs typeface="Calibri"/>
                <a:sym typeface="Calibri"/>
              </a:rPr>
              <a:t>Architecture blueprint</a:t>
            </a:r>
            <a:endParaRPr sz="2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2" name="Text Box 1"/>
          <p:cNvSpPr txBox="1"/>
          <p:nvPr/>
        </p:nvSpPr>
        <p:spPr>
          <a:xfrm>
            <a:off x="4045585" y="657860"/>
            <a:ext cx="5098415" cy="6064885"/>
          </a:xfrm>
          <a:prstGeom prst="rect">
            <a:avLst/>
          </a:prstGeom>
          <a:noFill/>
        </p:spPr>
        <p:txBody>
          <a:bodyPr wrap="square" rtlCol="0" anchor="t">
            <a:noAutofit/>
          </a:bodyPr>
          <a:p>
            <a:r>
              <a:rPr lang="en-US"/>
              <a:t>                 +----------------------+</a:t>
            </a:r>
            <a:endParaRPr lang="en-US"/>
          </a:p>
          <a:p>
            <a:r>
              <a:rPr lang="en-US"/>
              <a:t>                  |       User            |</a:t>
            </a:r>
            <a:endParaRPr lang="en-US"/>
          </a:p>
          <a:p>
            <a:r>
              <a:rPr lang="en-US"/>
              <a:t>                 +----------+-----------+</a:t>
            </a:r>
            <a:endParaRPr lang="en-US"/>
          </a:p>
          <a:p>
            <a:r>
              <a:rPr lang="en-US"/>
              <a:t>                                |</a:t>
            </a:r>
            <a:endParaRPr lang="en-US"/>
          </a:p>
          <a:p>
            <a:r>
              <a:rPr lang="en-US"/>
              <a:t>         +-----------------+-----------------+</a:t>
            </a:r>
            <a:endParaRPr lang="en-US"/>
          </a:p>
          <a:p>
            <a:r>
              <a:rPr lang="en-US"/>
              <a:t>          |                                            |</a:t>
            </a:r>
            <a:endParaRPr lang="en-US"/>
          </a:p>
          <a:p>
            <a:r>
              <a:rPr lang="en-US"/>
              <a:t>      Text / Voice                     Food Image</a:t>
            </a:r>
            <a:endParaRPr lang="en-US"/>
          </a:p>
          <a:p>
            <a:r>
              <a:rPr lang="en-US"/>
              <a:t>          |                                            |</a:t>
            </a:r>
            <a:endParaRPr lang="en-US"/>
          </a:p>
          <a:p>
            <a:r>
              <a:rPr lang="en-US"/>
              <a:t>          +---------------+-------------------+</a:t>
            </a:r>
            <a:endParaRPr lang="en-US"/>
          </a:p>
          <a:p>
            <a:r>
              <a:rPr lang="en-US"/>
              <a:t>                              |</a:t>
            </a:r>
            <a:endParaRPr lang="en-US"/>
          </a:p>
          <a:p>
            <a:r>
              <a:rPr lang="en-US"/>
              <a:t>                    IBM BOB Agent</a:t>
            </a:r>
            <a:endParaRPr lang="en-US"/>
          </a:p>
          <a:p>
            <a:r>
              <a:rPr lang="en-US"/>
              <a:t>                              |</a:t>
            </a:r>
            <a:endParaRPr lang="en-US"/>
          </a:p>
          <a:p>
            <a:r>
              <a:rPr lang="en-US"/>
              <a:t>                IBM watsonx.ai</a:t>
            </a:r>
            <a:endParaRPr lang="en-US"/>
          </a:p>
          <a:p>
            <a:r>
              <a:rPr lang="en-US"/>
              <a:t>                              |</a:t>
            </a:r>
            <a:endParaRPr lang="en-US"/>
          </a:p>
          <a:p>
            <a:r>
              <a:rPr lang="en-US"/>
              <a:t>                 IBM Granite Model</a:t>
            </a:r>
            <a:endParaRPr lang="en-US"/>
          </a:p>
          <a:p>
            <a:r>
              <a:rPr lang="en-US"/>
              <a:t>                               |</a:t>
            </a:r>
            <a:endParaRPr lang="en-US"/>
          </a:p>
          <a:p>
            <a:r>
              <a:rPr lang="en-US"/>
              <a:t>      + ---------</a:t>
            </a:r>
            <a:r>
              <a:rPr lang="en-US">
                <a:sym typeface="+mn-ea"/>
              </a:rPr>
              <a:t>---------</a:t>
            </a:r>
            <a:r>
              <a:rPr lang="en-US"/>
              <a:t> + ---------</a:t>
            </a:r>
            <a:r>
              <a:rPr lang="en-US">
                <a:sym typeface="+mn-ea"/>
              </a:rPr>
              <a:t>---- </a:t>
            </a:r>
            <a:r>
              <a:rPr lang="en-US"/>
              <a:t>+ ---------- + ------------ +</a:t>
            </a:r>
            <a:endParaRPr lang="en-US"/>
          </a:p>
          <a:p>
            <a:r>
              <a:rPr lang="en-US"/>
              <a:t>      |                         |                   |               |                  |</a:t>
            </a:r>
            <a:endParaRPr lang="en-US"/>
          </a:p>
          <a:p>
            <a:r>
              <a:rPr lang="en-US"/>
              <a:t> Meal Planner  BMI/TDEE  Food Swaps AI Chat  Nutrition Tips</a:t>
            </a:r>
            <a:endParaRPr lang="en-US"/>
          </a:p>
          <a:p>
            <a:r>
              <a:rPr lang="en-US"/>
              <a:t>      |                         |                   |               |                  |</a:t>
            </a:r>
            <a:endParaRPr lang="en-US"/>
          </a:p>
          <a:p>
            <a:r>
              <a:rPr lang="en-US"/>
              <a:t>      + ------------------ + ------------  + ---------- + ------------ +</a:t>
            </a:r>
            <a:endParaRPr lang="en-US"/>
          </a:p>
          <a:p>
            <a:r>
              <a:rPr lang="en-US"/>
              <a:t>                                |</a:t>
            </a:r>
            <a:endParaRPr lang="en-US"/>
          </a:p>
          <a:p>
            <a:r>
              <a:rPr lang="en-US"/>
              <a:t>                 Adaptive Feedback</a:t>
            </a:r>
            <a:endParaRPr lang="en-US"/>
          </a:p>
          <a:p>
            <a:r>
              <a:rPr lang="en-US"/>
              <a:t>                                |</a:t>
            </a:r>
            <a:endParaRPr lang="en-US"/>
          </a:p>
          <a:p>
            <a:r>
              <a:rPr lang="en-US"/>
              <a:t>                    Flask Backend</a:t>
            </a:r>
            <a:endParaRPr lang="en-US"/>
          </a:p>
          <a:p>
            <a:r>
              <a:rPr lang="en-US"/>
              <a:t>                                |</a:t>
            </a:r>
            <a:endParaRPr lang="en-US"/>
          </a:p>
          <a:p>
            <a:r>
              <a:rPr lang="en-US"/>
              <a:t>                 Bootstrap Web UI</a:t>
            </a:r>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36" name="Shape 136"/>
        <p:cNvGrpSpPr/>
        <p:nvPr/>
      </p:nvGrpSpPr>
      <p:grpSpPr>
        <a:xfrm>
          <a:off x="0" y="0"/>
          <a:ext cx="0" cy="0"/>
          <a:chOff x="0" y="0"/>
          <a:chExt cx="0" cy="0"/>
        </a:xfrm>
      </p:grpSpPr>
      <p:pic>
        <p:nvPicPr>
          <p:cNvPr id="137" name="Google Shape;137;p9"/>
          <p:cNvPicPr preferRelativeResize="0"/>
          <p:nvPr/>
        </p:nvPicPr>
        <p:blipFill rotWithShape="1">
          <a:blip r:embed="rId1"/>
          <a:srcRect/>
          <a:stretch>
            <a:fillRect/>
          </a:stretch>
        </p:blipFill>
        <p:spPr>
          <a:xfrm>
            <a:off x="8371985" y="1167493"/>
            <a:ext cx="3015343" cy="4523014"/>
          </a:xfrm>
          <a:prstGeom prst="rect">
            <a:avLst/>
          </a:prstGeom>
          <a:noFill/>
          <a:ln>
            <a:noFill/>
          </a:ln>
        </p:spPr>
      </p:pic>
      <p:sp>
        <p:nvSpPr>
          <p:cNvPr id="138" name="Google Shape;138;p9"/>
          <p:cNvSpPr txBox="1"/>
          <p:nvPr/>
        </p:nvSpPr>
        <p:spPr>
          <a:xfrm>
            <a:off x="475488" y="283464"/>
            <a:ext cx="9317736" cy="5847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3200" b="1" i="0" u="none" strike="noStrike" cap="none">
                <a:solidFill>
                  <a:srgbClr val="000000"/>
                </a:solidFill>
                <a:latin typeface="Arial" panose="020B0604020202090204"/>
                <a:ea typeface="Arial" panose="020B0604020202090204"/>
                <a:cs typeface="Arial" panose="020B0604020202090204"/>
                <a:sym typeface="Arial" panose="020B0604020202090204"/>
              </a:rPr>
              <a:t>Role of Agentic AI in the solution </a:t>
            </a:r>
            <a:endParaRPr sz="3200" b="1"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39" name="Google Shape;139;p9"/>
          <p:cNvSpPr txBox="1"/>
          <p:nvPr/>
        </p:nvSpPr>
        <p:spPr>
          <a:xfrm>
            <a:off x="621792" y="1167493"/>
            <a:ext cx="7406640" cy="375221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i="0" u="none" strike="noStrike" cap="none">
                <a:solidFill>
                  <a:srgbClr val="000000"/>
                </a:solidFill>
                <a:latin typeface="Arial" panose="020B0604020202090204"/>
                <a:ea typeface="Arial" panose="020B0604020202090204"/>
                <a:cs typeface="Arial" panose="020B0604020202090204"/>
                <a:sym typeface="Arial" panose="020B0604020202090204"/>
              </a:rPr>
              <a:t>Agentic AI enables the Nutrition Agent to act as an intelligent, goal-oriented assistant rather than a basic chatbot. Using IBM BOB, IBM watsonx.ai, and IBM Granite, the agent understands user inputs, reasons over nutrition-related queries, and generates personalized recommendations.</a:t>
            </a:r>
            <a:endParaRPr lang="en-US" sz="1400" i="0" u="none" strike="noStrike" cap="none">
              <a:solidFill>
                <a:srgbClr val="000000"/>
              </a:solidFill>
              <a:latin typeface="Arial" panose="020B0604020202090204"/>
              <a:ea typeface="Arial" panose="020B0604020202090204"/>
              <a:cs typeface="Arial" panose="020B0604020202090204"/>
              <a:sym typeface="Arial" panose="020B0604020202090204"/>
            </a:endParaRPr>
          </a:p>
          <a:p>
            <a:pPr marL="0" marR="0" lvl="0" indent="0" algn="l" rtl="0">
              <a:lnSpc>
                <a:spcPct val="100000"/>
              </a:lnSpc>
              <a:spcBef>
                <a:spcPts val="0"/>
              </a:spcBef>
              <a:spcAft>
                <a:spcPts val="0"/>
              </a:spcAft>
              <a:buNone/>
            </a:pPr>
            <a:endParaRPr lang="en-US" sz="1400" i="0" u="none" strike="noStrike" cap="none">
              <a:solidFill>
                <a:srgbClr val="000000"/>
              </a:solidFill>
              <a:latin typeface="Arial" panose="020B0604020202090204"/>
              <a:ea typeface="Arial" panose="020B0604020202090204"/>
              <a:cs typeface="Arial" panose="020B0604020202090204"/>
              <a:sym typeface="Arial" panose="020B0604020202090204"/>
            </a:endParaRPr>
          </a:p>
          <a:p>
            <a:pPr marL="0" marR="0" lvl="0" indent="0" algn="l" rtl="0">
              <a:lnSpc>
                <a:spcPct val="100000"/>
              </a:lnSpc>
              <a:spcBef>
                <a:spcPts val="0"/>
              </a:spcBef>
              <a:spcAft>
                <a:spcPts val="0"/>
              </a:spcAft>
              <a:buNone/>
            </a:pPr>
            <a:r>
              <a:rPr lang="en-US" sz="1400" i="0" u="none" strike="noStrike" cap="none">
                <a:solidFill>
                  <a:srgbClr val="000000"/>
                </a:solidFill>
                <a:latin typeface="Arial" panose="020B0604020202090204"/>
                <a:ea typeface="Arial" panose="020B0604020202090204"/>
                <a:cs typeface="Arial" panose="020B0604020202090204"/>
                <a:sym typeface="Arial" panose="020B0604020202090204"/>
              </a:rPr>
              <a:t>The AI agent collects user information such as age, dietary preferences, health conditions, fitness goals, BMI, and TDEE to create customized meal plans, nutrition advice, and smart food swap recommendations. It also supports text, voice, and food image interactions, making the system more interactive and user-friendly.</a:t>
            </a:r>
            <a:endParaRPr lang="en-US" sz="1400" i="0" u="none" strike="noStrike" cap="none">
              <a:solidFill>
                <a:srgbClr val="000000"/>
              </a:solidFill>
              <a:latin typeface="Arial" panose="020B0604020202090204"/>
              <a:ea typeface="Arial" panose="020B0604020202090204"/>
              <a:cs typeface="Arial" panose="020B0604020202090204"/>
              <a:sym typeface="Arial" panose="020B0604020202090204"/>
            </a:endParaRPr>
          </a:p>
          <a:p>
            <a:pPr marL="0" marR="0" lvl="0" indent="0" algn="l" rtl="0">
              <a:lnSpc>
                <a:spcPct val="100000"/>
              </a:lnSpc>
              <a:spcBef>
                <a:spcPts val="0"/>
              </a:spcBef>
              <a:spcAft>
                <a:spcPts val="0"/>
              </a:spcAft>
              <a:buNone/>
            </a:pPr>
            <a:endParaRPr lang="en-US" sz="1400" i="0" u="none" strike="noStrike" cap="none">
              <a:solidFill>
                <a:srgbClr val="000000"/>
              </a:solidFill>
              <a:latin typeface="Arial" panose="020B0604020202090204"/>
              <a:ea typeface="Arial" panose="020B0604020202090204"/>
              <a:cs typeface="Arial" panose="020B0604020202090204"/>
              <a:sym typeface="Arial" panose="020B0604020202090204"/>
            </a:endParaRPr>
          </a:p>
          <a:p>
            <a:pPr marL="0" marR="0" lvl="0" indent="0" algn="l" rtl="0">
              <a:lnSpc>
                <a:spcPct val="100000"/>
              </a:lnSpc>
              <a:spcBef>
                <a:spcPts val="0"/>
              </a:spcBef>
              <a:spcAft>
                <a:spcPts val="0"/>
              </a:spcAft>
              <a:buNone/>
            </a:pPr>
            <a:r>
              <a:rPr lang="en-US" sz="1400" i="0" u="none" strike="noStrike" cap="none">
                <a:solidFill>
                  <a:srgbClr val="000000"/>
                </a:solidFill>
                <a:latin typeface="Arial" panose="020B0604020202090204"/>
                <a:ea typeface="Arial" panose="020B0604020202090204"/>
                <a:cs typeface="Arial" panose="020B0604020202090204"/>
                <a:sym typeface="Arial" panose="020B0604020202090204"/>
              </a:rPr>
              <a:t>The agent provides context-aware responses, explains nutritional choices, and adapts recommendations based on user preferences and feedback during the session. This enables more personalized and meaningful nutrition guidance.</a:t>
            </a:r>
            <a:endParaRPr lang="en-US" sz="1400" i="0" u="none" strike="noStrike" cap="none">
              <a:solidFill>
                <a:srgbClr val="000000"/>
              </a:solidFill>
              <a:latin typeface="Arial" panose="020B0604020202090204"/>
              <a:ea typeface="Arial" panose="020B0604020202090204"/>
              <a:cs typeface="Arial" panose="020B0604020202090204"/>
              <a:sym typeface="Arial" panose="020B0604020202090204"/>
            </a:endParaRPr>
          </a:p>
          <a:p>
            <a:pPr marL="0" marR="0" lvl="0" indent="0" algn="l" rtl="0">
              <a:lnSpc>
                <a:spcPct val="100000"/>
              </a:lnSpc>
              <a:spcBef>
                <a:spcPts val="0"/>
              </a:spcBef>
              <a:spcAft>
                <a:spcPts val="0"/>
              </a:spcAft>
              <a:buNone/>
            </a:pPr>
            <a:endParaRPr lang="en-US" sz="1400" i="0" u="none" strike="noStrike" cap="none">
              <a:solidFill>
                <a:srgbClr val="000000"/>
              </a:solidFill>
              <a:latin typeface="Arial" panose="020B0604020202090204"/>
              <a:ea typeface="Arial" panose="020B0604020202090204"/>
              <a:cs typeface="Arial" panose="020B0604020202090204"/>
              <a:sym typeface="Arial" panose="020B0604020202090204"/>
            </a:endParaRPr>
          </a:p>
          <a:p>
            <a:pPr marL="0" marR="0" lvl="0" indent="0" algn="l" rtl="0">
              <a:lnSpc>
                <a:spcPct val="100000"/>
              </a:lnSpc>
              <a:spcBef>
                <a:spcPts val="0"/>
              </a:spcBef>
              <a:spcAft>
                <a:spcPts val="0"/>
              </a:spcAft>
              <a:buNone/>
            </a:pPr>
            <a:r>
              <a:rPr lang="en-US" sz="1400" i="0" u="none" strike="noStrike" cap="none">
                <a:solidFill>
                  <a:srgbClr val="000000"/>
                </a:solidFill>
                <a:latin typeface="Arial" panose="020B0604020202090204"/>
                <a:ea typeface="Arial" panose="020B0604020202090204"/>
                <a:cs typeface="Arial" panose="020B0604020202090204"/>
                <a:sym typeface="Arial" panose="020B0604020202090204"/>
              </a:rPr>
              <a:t>Overall, Agentic AI makes the Nutrition Agent intelligent, adaptive, and user-centric, helping users make healthier food choices and maintain a balanced lifestyle through AI-powered assistance.</a:t>
            </a:r>
            <a:endParaRPr lang="en-US" sz="140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56" name="Shape 156"/>
        <p:cNvGrpSpPr/>
        <p:nvPr/>
      </p:nvGrpSpPr>
      <p:grpSpPr>
        <a:xfrm>
          <a:off x="0" y="0"/>
          <a:ext cx="0" cy="0"/>
          <a:chOff x="0" y="0"/>
          <a:chExt cx="0" cy="0"/>
        </a:xfrm>
      </p:grpSpPr>
      <p:sp>
        <p:nvSpPr>
          <p:cNvPr id="157" name="Google Shape;157;p40"/>
          <p:cNvSpPr txBox="1"/>
          <p:nvPr/>
        </p:nvSpPr>
        <p:spPr>
          <a:xfrm>
            <a:off x="777240" y="484632"/>
            <a:ext cx="7123176"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a:solidFill>
                  <a:srgbClr val="000000"/>
                </a:solidFill>
                <a:latin typeface="Arial" panose="020B0604020202090204"/>
                <a:ea typeface="Arial" panose="020B0604020202090204"/>
                <a:cs typeface="Arial" panose="020B0604020202090204"/>
                <a:sym typeface="Arial" panose="020B0604020202090204"/>
              </a:rPr>
              <a:t>Novelty and Uniqueness</a:t>
            </a:r>
            <a:endParaRPr sz="2400" b="1"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58" name="Google Shape;158;p40"/>
          <p:cNvSpPr txBox="1"/>
          <p:nvPr/>
        </p:nvSpPr>
        <p:spPr>
          <a:xfrm>
            <a:off x="777240" y="1207008"/>
            <a:ext cx="11301984" cy="452183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800" i="0" u="none" strike="noStrike" cap="none">
                <a:solidFill>
                  <a:srgbClr val="000000"/>
                </a:solidFill>
                <a:latin typeface="Arial" panose="020B0604020202090204"/>
                <a:ea typeface="Arial" panose="020B0604020202090204"/>
                <a:cs typeface="Arial" panose="020B0604020202090204"/>
                <a:sym typeface="Arial" panose="020B0604020202090204"/>
              </a:rPr>
              <a:t>The proposed AI-Powered Nutrition Agent combines IBM watsonx.ai, IBM Granite, IBM BOB, and personalized nutrition intelligence into a single interactive platform.</a:t>
            </a:r>
            <a:endParaRPr lang="en-US" sz="1800" i="0" u="none" strike="noStrike" cap="none">
              <a:solidFill>
                <a:srgbClr val="000000"/>
              </a:solidFill>
              <a:latin typeface="Arial" panose="020B0604020202090204"/>
              <a:ea typeface="Arial" panose="020B0604020202090204"/>
              <a:cs typeface="Arial" panose="020B0604020202090204"/>
              <a:sym typeface="Arial" panose="020B0604020202090204"/>
            </a:endParaRPr>
          </a:p>
          <a:p>
            <a:pPr marL="0" marR="0" lvl="0" indent="0" algn="l" rtl="0">
              <a:lnSpc>
                <a:spcPct val="100000"/>
              </a:lnSpc>
              <a:spcBef>
                <a:spcPts val="0"/>
              </a:spcBef>
              <a:spcAft>
                <a:spcPts val="0"/>
              </a:spcAft>
              <a:buNone/>
            </a:pPr>
            <a:endParaRPr lang="en-US" sz="1800" i="0" u="none" strike="noStrike" cap="none">
              <a:solidFill>
                <a:srgbClr val="000000"/>
              </a:solidFill>
              <a:latin typeface="Arial" panose="020B0604020202090204"/>
              <a:ea typeface="Arial" panose="020B0604020202090204"/>
              <a:cs typeface="Arial" panose="020B0604020202090204"/>
              <a:sym typeface="Arial" panose="020B0604020202090204"/>
            </a:endParaRPr>
          </a:p>
          <a:p>
            <a:pPr marL="0" marR="0" lvl="0" indent="0" algn="l" rtl="0">
              <a:lnSpc>
                <a:spcPct val="100000"/>
              </a:lnSpc>
              <a:spcBef>
                <a:spcPts val="0"/>
              </a:spcBef>
              <a:spcAft>
                <a:spcPts val="0"/>
              </a:spcAft>
              <a:buNone/>
            </a:pPr>
            <a:r>
              <a:rPr lang="en-US" sz="1800" b="1" i="0" u="none" strike="noStrike" cap="none">
                <a:solidFill>
                  <a:srgbClr val="000000"/>
                </a:solidFill>
                <a:latin typeface="Arial Bold" panose="020B0604020202090204" charset="0"/>
                <a:ea typeface="Arial" panose="020B0604020202090204"/>
                <a:cs typeface="Arial Bold" panose="020B0604020202090204" charset="0"/>
                <a:sym typeface="Arial" panose="020B0604020202090204"/>
              </a:rPr>
              <a:t>AI-Powered Nutrition Guidance</a:t>
            </a:r>
            <a:r>
              <a:rPr lang="en-US" sz="1800" i="0" u="none" strike="noStrike" cap="none">
                <a:solidFill>
                  <a:srgbClr val="000000"/>
                </a:solidFill>
                <a:latin typeface="Arial" panose="020B0604020202090204"/>
                <a:ea typeface="Arial" panose="020B0604020202090204"/>
                <a:cs typeface="Arial" panose="020B0604020202090204"/>
                <a:sym typeface="Arial" panose="020B0604020202090204"/>
              </a:rPr>
              <a:t> – Uses IBM Granite models to answer nutrition queries, generate meal plans, and provide health recommendations.</a:t>
            </a:r>
            <a:endParaRPr lang="en-US" sz="1800" i="0" u="none" strike="noStrike" cap="none">
              <a:solidFill>
                <a:srgbClr val="000000"/>
              </a:solidFill>
              <a:latin typeface="Arial" panose="020B0604020202090204"/>
              <a:ea typeface="Arial" panose="020B0604020202090204"/>
              <a:cs typeface="Arial" panose="020B0604020202090204"/>
              <a:sym typeface="Arial" panose="020B0604020202090204"/>
            </a:endParaRPr>
          </a:p>
          <a:p>
            <a:pPr marL="0" marR="0" lvl="0" indent="0" algn="l" rtl="0">
              <a:lnSpc>
                <a:spcPct val="100000"/>
              </a:lnSpc>
              <a:spcBef>
                <a:spcPts val="0"/>
              </a:spcBef>
              <a:spcAft>
                <a:spcPts val="0"/>
              </a:spcAft>
              <a:buNone/>
            </a:pPr>
            <a:r>
              <a:rPr lang="en-US" sz="1800" b="1" i="0" u="none" strike="noStrike" cap="none">
                <a:solidFill>
                  <a:srgbClr val="000000"/>
                </a:solidFill>
                <a:latin typeface="Arial Bold" panose="020B0604020202090204" charset="0"/>
                <a:ea typeface="Arial" panose="020B0604020202090204"/>
                <a:cs typeface="Arial Bold" panose="020B0604020202090204" charset="0"/>
                <a:sym typeface="Arial" panose="020B0604020202090204"/>
              </a:rPr>
              <a:t>Hyper-Personalization</a:t>
            </a:r>
            <a:r>
              <a:rPr lang="en-US" sz="1800" i="0" u="none" strike="noStrike" cap="none">
                <a:solidFill>
                  <a:srgbClr val="000000"/>
                </a:solidFill>
                <a:latin typeface="Arial" panose="020B0604020202090204"/>
                <a:ea typeface="Arial" panose="020B0604020202090204"/>
                <a:cs typeface="Arial" panose="020B0604020202090204"/>
                <a:sym typeface="Arial" panose="020B0604020202090204"/>
              </a:rPr>
              <a:t> – Creates personalized diet plans based on user goals, health conditions, dietary preferences, BMI, and TDEE.</a:t>
            </a:r>
            <a:endParaRPr lang="en-US" sz="1800" i="0" u="none" strike="noStrike" cap="none">
              <a:solidFill>
                <a:srgbClr val="000000"/>
              </a:solidFill>
              <a:latin typeface="Arial" panose="020B0604020202090204"/>
              <a:ea typeface="Arial" panose="020B0604020202090204"/>
              <a:cs typeface="Arial" panose="020B0604020202090204"/>
              <a:sym typeface="Arial" panose="020B0604020202090204"/>
            </a:endParaRPr>
          </a:p>
          <a:p>
            <a:pPr marL="0" marR="0" lvl="0" indent="0" algn="l" rtl="0">
              <a:lnSpc>
                <a:spcPct val="100000"/>
              </a:lnSpc>
              <a:spcBef>
                <a:spcPts val="0"/>
              </a:spcBef>
              <a:spcAft>
                <a:spcPts val="0"/>
              </a:spcAft>
              <a:buNone/>
            </a:pPr>
            <a:r>
              <a:rPr lang="en-US" sz="1800" b="1" i="0" u="none" strike="noStrike" cap="none">
                <a:solidFill>
                  <a:srgbClr val="000000"/>
                </a:solidFill>
                <a:latin typeface="Arial Bold" panose="020B0604020202090204" charset="0"/>
                <a:ea typeface="Arial" panose="020B0604020202090204"/>
                <a:cs typeface="Arial Bold" panose="020B0604020202090204" charset="0"/>
                <a:sym typeface="Arial" panose="020B0604020202090204"/>
              </a:rPr>
              <a:t>Multimodal Interaction </a:t>
            </a:r>
            <a:r>
              <a:rPr lang="en-US" sz="1800" i="0" u="none" strike="noStrike" cap="none">
                <a:solidFill>
                  <a:srgbClr val="000000"/>
                </a:solidFill>
                <a:latin typeface="Arial" panose="020B0604020202090204"/>
                <a:ea typeface="Arial" panose="020B0604020202090204"/>
                <a:cs typeface="Arial" panose="020B0604020202090204"/>
                <a:sym typeface="Arial" panose="020B0604020202090204"/>
              </a:rPr>
              <a:t>– Supports text, voice, and food image inputs for a more natural user experience.</a:t>
            </a:r>
            <a:endParaRPr lang="en-US" sz="1800" i="0" u="none" strike="noStrike" cap="none">
              <a:solidFill>
                <a:srgbClr val="000000"/>
              </a:solidFill>
              <a:latin typeface="Arial" panose="020B0604020202090204"/>
              <a:ea typeface="Arial" panose="020B0604020202090204"/>
              <a:cs typeface="Arial" panose="020B0604020202090204"/>
              <a:sym typeface="Arial" panose="020B0604020202090204"/>
            </a:endParaRPr>
          </a:p>
          <a:p>
            <a:pPr marL="0" marR="0" lvl="0" indent="0" algn="l" rtl="0">
              <a:lnSpc>
                <a:spcPct val="100000"/>
              </a:lnSpc>
              <a:spcBef>
                <a:spcPts val="0"/>
              </a:spcBef>
              <a:spcAft>
                <a:spcPts val="0"/>
              </a:spcAft>
              <a:buNone/>
            </a:pPr>
            <a:r>
              <a:rPr lang="en-US" sz="1800" i="0" u="none" strike="noStrike" cap="none">
                <a:solidFill>
                  <a:srgbClr val="000000"/>
                </a:solidFill>
                <a:latin typeface="Arial" panose="020B0604020202090204"/>
                <a:ea typeface="Arial" panose="020B0604020202090204"/>
                <a:cs typeface="Arial" panose="020B0604020202090204"/>
                <a:sym typeface="Arial" panose="020B0604020202090204"/>
              </a:rPr>
              <a:t>Smart Food Analysis &amp; Swaps – Analyzes food nutrition, explains nutritional value, and recommends healthier food alternatives.</a:t>
            </a:r>
            <a:endParaRPr lang="en-US" sz="1800" i="0" u="none" strike="noStrike" cap="none">
              <a:solidFill>
                <a:srgbClr val="000000"/>
              </a:solidFill>
              <a:latin typeface="Arial" panose="020B0604020202090204"/>
              <a:ea typeface="Arial" panose="020B0604020202090204"/>
              <a:cs typeface="Arial" panose="020B0604020202090204"/>
              <a:sym typeface="Arial" panose="020B0604020202090204"/>
            </a:endParaRPr>
          </a:p>
          <a:p>
            <a:pPr marL="0" marR="0" lvl="0" indent="0" algn="l" rtl="0">
              <a:lnSpc>
                <a:spcPct val="100000"/>
              </a:lnSpc>
              <a:spcBef>
                <a:spcPts val="0"/>
              </a:spcBef>
              <a:spcAft>
                <a:spcPts val="0"/>
              </a:spcAft>
              <a:buNone/>
            </a:pPr>
            <a:r>
              <a:rPr lang="en-US" sz="1800" b="1" i="0" u="none" strike="noStrike" cap="none">
                <a:solidFill>
                  <a:srgbClr val="000000"/>
                </a:solidFill>
                <a:latin typeface="Arial Bold" panose="020B0604020202090204" charset="0"/>
                <a:ea typeface="Arial" panose="020B0604020202090204"/>
                <a:cs typeface="Arial Bold" panose="020B0604020202090204" charset="0"/>
                <a:sym typeface="Arial" panose="020B0604020202090204"/>
              </a:rPr>
              <a:t>Adaptive Recommendations </a:t>
            </a:r>
            <a:r>
              <a:rPr lang="en-US" sz="1800" i="0" u="none" strike="noStrike" cap="none">
                <a:solidFill>
                  <a:srgbClr val="000000"/>
                </a:solidFill>
                <a:latin typeface="Arial" panose="020B0604020202090204"/>
                <a:ea typeface="Arial" panose="020B0604020202090204"/>
                <a:cs typeface="Arial" panose="020B0604020202090204"/>
                <a:sym typeface="Arial" panose="020B0604020202090204"/>
              </a:rPr>
              <a:t>– Uses user feedback during the session to improve future meal and nutrition suggestions.</a:t>
            </a:r>
            <a:endParaRPr lang="en-US" sz="1800" i="0" u="none" strike="noStrike" cap="none">
              <a:solidFill>
                <a:srgbClr val="000000"/>
              </a:solidFill>
              <a:latin typeface="Arial" panose="020B0604020202090204"/>
              <a:ea typeface="Arial" panose="020B0604020202090204"/>
              <a:cs typeface="Arial" panose="020B0604020202090204"/>
              <a:sym typeface="Arial" panose="020B0604020202090204"/>
            </a:endParaRPr>
          </a:p>
          <a:p>
            <a:pPr marL="0" marR="0" lvl="0" indent="0" algn="l" rtl="0">
              <a:lnSpc>
                <a:spcPct val="100000"/>
              </a:lnSpc>
              <a:spcBef>
                <a:spcPts val="0"/>
              </a:spcBef>
              <a:spcAft>
                <a:spcPts val="0"/>
              </a:spcAft>
              <a:buNone/>
            </a:pPr>
            <a:r>
              <a:rPr lang="en-US" sz="1800" b="1" i="0" u="none" strike="noStrike" cap="none">
                <a:solidFill>
                  <a:srgbClr val="000000"/>
                </a:solidFill>
                <a:latin typeface="Arial Bold" panose="020B0604020202090204" charset="0"/>
                <a:ea typeface="Arial" panose="020B0604020202090204"/>
                <a:cs typeface="Arial Bold" panose="020B0604020202090204" charset="0"/>
                <a:sym typeface="Arial" panose="020B0604020202090204"/>
              </a:rPr>
              <a:t>Preventive Healthcare Focus</a:t>
            </a:r>
            <a:r>
              <a:rPr lang="en-US" sz="1800" i="0" u="none" strike="noStrike" cap="none">
                <a:solidFill>
                  <a:srgbClr val="000000"/>
                </a:solidFill>
                <a:latin typeface="Arial" panose="020B0604020202090204"/>
                <a:ea typeface="Arial" panose="020B0604020202090204"/>
                <a:cs typeface="Arial" panose="020B0604020202090204"/>
                <a:sym typeface="Arial" panose="020B0604020202090204"/>
              </a:rPr>
              <a:t> – Encourages healthy eating habits through disease-specific meal plans, nutrition education, and lifestyle recommendations.</a:t>
            </a:r>
            <a:endParaRPr lang="en-US" sz="1800" i="0" u="none" strike="noStrike" cap="none">
              <a:solidFill>
                <a:srgbClr val="000000"/>
              </a:solidFill>
              <a:latin typeface="Arial" panose="020B0604020202090204"/>
              <a:ea typeface="Arial" panose="020B0604020202090204"/>
              <a:cs typeface="Arial" panose="020B0604020202090204"/>
              <a:sym typeface="Arial" panose="020B0604020202090204"/>
            </a:endParaRPr>
          </a:p>
          <a:p>
            <a:pPr marL="0" marR="0" lvl="0" indent="0" algn="l" rtl="0">
              <a:lnSpc>
                <a:spcPct val="100000"/>
              </a:lnSpc>
              <a:spcBef>
                <a:spcPts val="0"/>
              </a:spcBef>
              <a:spcAft>
                <a:spcPts val="0"/>
              </a:spcAft>
              <a:buNone/>
            </a:pPr>
            <a:r>
              <a:rPr lang="en-US" sz="1800" b="1" i="0" u="none" strike="noStrike" cap="none">
                <a:solidFill>
                  <a:srgbClr val="000000"/>
                </a:solidFill>
                <a:latin typeface="Arial Bold" panose="020B0604020202090204" charset="0"/>
                <a:ea typeface="Arial" panose="020B0604020202090204"/>
                <a:cs typeface="Arial Bold" panose="020B0604020202090204" charset="0"/>
                <a:sym typeface="Arial" panose="020B0604020202090204"/>
              </a:rPr>
              <a:t>IBM AI-Powered Solution</a:t>
            </a:r>
            <a:r>
              <a:rPr lang="en-US" sz="1800" i="0" u="none" strike="noStrike" cap="none">
                <a:solidFill>
                  <a:srgbClr val="000000"/>
                </a:solidFill>
                <a:latin typeface="Arial" panose="020B0604020202090204"/>
                <a:ea typeface="Arial" panose="020B0604020202090204"/>
                <a:cs typeface="Arial" panose="020B0604020202090204"/>
                <a:sym typeface="Arial" panose="020B0604020202090204"/>
              </a:rPr>
              <a:t> – Built using IBM watsonx.ai, IBM Granite, IBM BOB, and IBM Cloud for secure, scalable, and intelligent nutrition assistance.</a:t>
            </a:r>
            <a:endParaRPr lang="en-US" sz="180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62" name="Shape 162"/>
        <p:cNvGrpSpPr/>
        <p:nvPr/>
      </p:nvGrpSpPr>
      <p:grpSpPr>
        <a:xfrm>
          <a:off x="0" y="0"/>
          <a:ext cx="0" cy="0"/>
          <a:chOff x="0" y="0"/>
          <a:chExt cx="0" cy="0"/>
        </a:xfrm>
      </p:grpSpPr>
      <p:sp>
        <p:nvSpPr>
          <p:cNvPr id="163" name="Google Shape;163;p41"/>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000"/>
              </a:lnSpc>
              <a:spcBef>
                <a:spcPts val="0"/>
              </a:spcBef>
              <a:spcAft>
                <a:spcPts val="0"/>
              </a:spcAft>
              <a:buClr>
                <a:srgbClr val="051D3A"/>
              </a:buClr>
              <a:buSzPts val="3500"/>
              <a:buFont typeface="Times New Roman" panose="02020503050405090304"/>
              <a:buNone/>
            </a:pPr>
            <a:r>
              <a:rPr lang="en-US" sz="2400" b="1" i="0" u="none" strike="noStrike" cap="none">
                <a:solidFill>
                  <a:srgbClr val="000000"/>
                </a:solidFill>
                <a:latin typeface="Arial" panose="020B0604020202090204"/>
                <a:ea typeface="Arial" panose="020B0604020202090204"/>
                <a:cs typeface="Arial" panose="020B0604020202090204"/>
                <a:sym typeface="Arial" panose="020B0604020202090204"/>
              </a:rPr>
              <a:t>Git Hub Link</a:t>
            </a:r>
            <a:endParaRPr sz="2400" b="1"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64" name="Google Shape;164;p41"/>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503050405090304"/>
              <a:buNone/>
            </a:pPr>
            <a:r>
              <a:rPr lang="en-US" sz="1850" b="0" i="0" u="none" strike="noStrike" cap="none">
                <a:solidFill>
                  <a:srgbClr val="2B3541"/>
                </a:solidFill>
                <a:latin typeface="Times New Roman" panose="02020503050405090304"/>
                <a:ea typeface="Times New Roman" panose="02020503050405090304"/>
                <a:cs typeface="Times New Roman" panose="02020503050405090304"/>
                <a:sym typeface="Times New Roman" panose="02020503050405090304"/>
              </a:rPr>
              <a:t> https://github.com/bhagyashree-goudar/Nutrition-Agent</a:t>
            </a:r>
            <a:endParaRPr lang="en-US" sz="1850" b="0" i="0" u="none" strike="noStrike" cap="none">
              <a:solidFill>
                <a:srgbClr val="2B3541"/>
              </a:solidFill>
              <a:latin typeface="Times New Roman" panose="02020503050405090304"/>
              <a:ea typeface="Times New Roman" panose="02020503050405090304"/>
              <a:cs typeface="Times New Roman" panose="02020503050405090304"/>
              <a:sym typeface="Times New Roman" panose="02020503050405090304"/>
            </a:endParaRPr>
          </a:p>
          <a:p>
            <a:pPr marL="0" marR="0" lvl="0" indent="0" algn="l" rtl="0">
              <a:lnSpc>
                <a:spcPct val="162000"/>
              </a:lnSpc>
              <a:spcBef>
                <a:spcPts val="0"/>
              </a:spcBef>
              <a:spcAft>
                <a:spcPts val="0"/>
              </a:spcAft>
              <a:buClr>
                <a:srgbClr val="2B3541"/>
              </a:buClr>
              <a:buSzPts val="1850"/>
              <a:buFont typeface="Times New Roman" panose="02020503050405090304"/>
              <a:buNone/>
            </a:pPr>
            <a:endParaRPr lang="en-US" sz="1850" b="0" i="0" u="none" strike="noStrike" cap="none">
              <a:solidFill>
                <a:srgbClr val="2B3541"/>
              </a:solidFill>
              <a:latin typeface="Times New Roman" panose="02020503050405090304"/>
              <a:ea typeface="Times New Roman" panose="02020503050405090304"/>
              <a:cs typeface="Times New Roman" panose="02020503050405090304"/>
              <a:sym typeface="Times New Roman" panose="02020503050405090304"/>
            </a:endParaRPr>
          </a:p>
          <a:p>
            <a:pPr marL="0" marR="0" lvl="0" indent="0" algn="l" rtl="0">
              <a:lnSpc>
                <a:spcPct val="162000"/>
              </a:lnSpc>
              <a:spcBef>
                <a:spcPts val="0"/>
              </a:spcBef>
              <a:spcAft>
                <a:spcPts val="0"/>
              </a:spcAft>
              <a:buClr>
                <a:srgbClr val="2B3541"/>
              </a:buClr>
              <a:buSzPts val="1850"/>
              <a:buFont typeface="Times New Roman" panose="02020503050405090304"/>
              <a:buNone/>
            </a:pPr>
            <a:r>
              <a:rPr lang="en-US" sz="1850" b="1" i="0" u="none" strike="noStrike" cap="none">
                <a:solidFill>
                  <a:srgbClr val="2B3541"/>
                </a:solidFill>
                <a:latin typeface="Times New Roman Bold" panose="02020503050405090304" charset="0"/>
                <a:ea typeface="Times New Roman" panose="02020503050405090304"/>
                <a:cs typeface="Times New Roman Bold" panose="02020503050405090304" charset="0"/>
                <a:sym typeface="Times New Roman" panose="02020503050405090304"/>
              </a:rPr>
              <a:t>Live deploy link </a:t>
            </a:r>
            <a:endParaRPr lang="en-US" sz="1850" b="1" i="0" u="none" strike="noStrike" cap="none">
              <a:solidFill>
                <a:srgbClr val="2B3541"/>
              </a:solidFill>
              <a:latin typeface="Times New Roman Bold" panose="02020503050405090304" charset="0"/>
              <a:ea typeface="Times New Roman" panose="02020503050405090304"/>
              <a:cs typeface="Times New Roman Bold" panose="02020503050405090304" charset="0"/>
              <a:sym typeface="Times New Roman" panose="02020503050405090304"/>
            </a:endParaRPr>
          </a:p>
          <a:p>
            <a:pPr marL="0" marR="0" lvl="0" indent="0" algn="l" rtl="0">
              <a:lnSpc>
                <a:spcPct val="162000"/>
              </a:lnSpc>
              <a:spcBef>
                <a:spcPts val="0"/>
              </a:spcBef>
              <a:spcAft>
                <a:spcPts val="0"/>
              </a:spcAft>
              <a:buClr>
                <a:srgbClr val="2B3541"/>
              </a:buClr>
              <a:buSzPts val="1850"/>
              <a:buFont typeface="Times New Roman" panose="02020503050405090304"/>
              <a:buNone/>
            </a:pPr>
            <a:r>
              <a:rPr lang="en-US" sz="1850" b="0" i="0" u="none" strike="noStrike" cap="none">
                <a:solidFill>
                  <a:srgbClr val="2B3541"/>
                </a:solidFill>
                <a:latin typeface="Times New Roman" panose="02020503050405090304"/>
                <a:ea typeface="Times New Roman" panose="02020503050405090304"/>
                <a:cs typeface="Times New Roman" panose="02020503050405090304"/>
                <a:sym typeface="Times New Roman" panose="02020503050405090304"/>
              </a:rPr>
              <a:t> https://nutrition-agent-teal.vercel.app </a:t>
            </a:r>
            <a:endParaRPr lang="en-US" sz="1850" b="0" i="0" u="none" strike="noStrike" cap="none">
              <a:solidFill>
                <a:srgbClr val="2B3541"/>
              </a:solidFill>
              <a:latin typeface="Times New Roman" panose="02020503050405090304"/>
              <a:ea typeface="Times New Roman" panose="02020503050405090304"/>
              <a:cs typeface="Times New Roman" panose="02020503050405090304"/>
              <a:sym typeface="Times New Roman" panose="02020503050405090304"/>
            </a:endParaRPr>
          </a:p>
        </p:txBody>
      </p:sp>
      <p:sp>
        <p:nvSpPr>
          <p:cNvPr id="166" name="Google Shape;166;p41"/>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503050405090304"/>
              <a:buNone/>
            </a:pPr>
            <a:endParaRPr sz="1850" b="0" i="0" u="none" strike="noStrike" cap="none">
              <a:solidFill>
                <a:srgbClr val="000000"/>
              </a:solidFill>
              <a:latin typeface="Times New Roman" panose="02020503050405090304"/>
              <a:ea typeface="Times New Roman" panose="02020503050405090304"/>
              <a:cs typeface="Times New Roman" panose="02020503050405090304"/>
              <a:sym typeface="Times New Roman" panose="02020503050405090304"/>
            </a:endParaRPr>
          </a:p>
        </p:txBody>
      </p:sp>
      <p:sp>
        <p:nvSpPr>
          <p:cNvPr id="167" name="Google Shape;167;p41"/>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503050405090304"/>
              <a:buNone/>
            </a:pPr>
            <a:endParaRPr sz="1850" b="0" i="0" u="none" strike="noStrike" cap="none">
              <a:solidFill>
                <a:srgbClr val="000000"/>
              </a:solidFill>
              <a:latin typeface="Times New Roman" panose="02020503050405090304"/>
              <a:ea typeface="Times New Roman" panose="02020503050405090304"/>
              <a:cs typeface="Times New Roman" panose="02020503050405090304"/>
              <a:sym typeface="Times New Roman" panose="02020503050405090304"/>
            </a:endParaRPr>
          </a:p>
        </p:txBody>
      </p:sp>
      <p:sp>
        <p:nvSpPr>
          <p:cNvPr id="1" name="Text Box 0"/>
          <p:cNvSpPr txBox="1"/>
          <p:nvPr/>
        </p:nvSpPr>
        <p:spPr>
          <a:xfrm>
            <a:off x="6572250" y="1450975"/>
            <a:ext cx="4064000" cy="521970"/>
          </a:xfrm>
          <a:prstGeom prst="rect">
            <a:avLst/>
          </a:prstGeom>
          <a:noFill/>
        </p:spPr>
        <p:txBody>
          <a:bodyPr wrap="square" rtlCol="0">
            <a:spAutoFit/>
          </a:bodyPr>
          <a:p>
            <a:endParaRPr lang="en-US"/>
          </a:p>
          <a:p>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71" name="Shape 171"/>
        <p:cNvGrpSpPr/>
        <p:nvPr/>
      </p:nvGrpSpPr>
      <p:grpSpPr>
        <a:xfrm>
          <a:off x="0" y="0"/>
          <a:ext cx="0" cy="0"/>
          <a:chOff x="0" y="0"/>
          <a:chExt cx="0" cy="0"/>
        </a:xfrm>
      </p:grpSpPr>
      <p:sp>
        <p:nvSpPr>
          <p:cNvPr id="172" name="Google Shape;172;p42"/>
          <p:cNvSpPr/>
          <p:nvPr/>
        </p:nvSpPr>
        <p:spPr>
          <a:xfrm>
            <a:off x="951230" y="421005"/>
            <a:ext cx="6711950" cy="704215"/>
          </a:xfrm>
          <a:prstGeom prst="rect">
            <a:avLst/>
          </a:prstGeom>
          <a:noFill/>
          <a:ln>
            <a:noFill/>
          </a:ln>
        </p:spPr>
        <p:txBody>
          <a:bodyPr spcFirstLastPara="1" wrap="square" lIns="0" tIns="0" rIns="0" bIns="0" anchor="t" anchorCtr="0">
            <a:noAutofit/>
          </a:bodyPr>
          <a:lstStyle/>
          <a:p>
            <a:pPr marL="0" marR="0" lvl="0" indent="0" algn="l" rtl="0">
              <a:lnSpc>
                <a:spcPct val="157000"/>
              </a:lnSpc>
              <a:spcBef>
                <a:spcPts val="0"/>
              </a:spcBef>
              <a:spcAft>
                <a:spcPts val="0"/>
              </a:spcAft>
              <a:buClr>
                <a:srgbClr val="051D3A"/>
              </a:buClr>
              <a:buSzPts val="3500"/>
              <a:buFont typeface="Times New Roman" panose="02020503050405090304"/>
              <a:buNone/>
            </a:pPr>
            <a:r>
              <a:rPr lang="en-US" sz="2400" b="1" i="0" u="none" strike="noStrike" cap="none">
                <a:solidFill>
                  <a:srgbClr val="000000"/>
                </a:solidFill>
                <a:latin typeface="Arial" panose="020B0604020202090204"/>
                <a:ea typeface="Arial" panose="020B0604020202090204"/>
                <a:cs typeface="Arial" panose="020B0604020202090204"/>
                <a:sym typeface="Arial" panose="020B0604020202090204"/>
              </a:rPr>
              <a:t>Future Scope </a:t>
            </a:r>
            <a:endParaRPr sz="2400" b="1"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73" name="Google Shape;173;p42"/>
          <p:cNvSpPr/>
          <p:nvPr/>
        </p:nvSpPr>
        <p:spPr>
          <a:xfrm>
            <a:off x="970280" y="1221740"/>
            <a:ext cx="9462770" cy="4950460"/>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503050405090304"/>
              <a:buNone/>
            </a:pPr>
            <a:r>
              <a:rPr lang="en-US" b="1" i="0" u="none" strike="noStrike" cap="none">
                <a:solidFill>
                  <a:srgbClr val="2B3541"/>
                </a:solidFill>
                <a:latin typeface="Times New Roman Bold" panose="02020503050405090304" charset="0"/>
                <a:ea typeface="Times New Roman" panose="02020503050405090304"/>
                <a:cs typeface="Times New Roman Bold" panose="02020503050405090304" charset="0"/>
                <a:sym typeface="Times New Roman" panose="02020503050405090304"/>
              </a:rPr>
              <a:t>1. Integration with Wearables &amp; Health Devices</a:t>
            </a:r>
            <a:endParaRPr lang="en-US" b="1" i="0" u="none" strike="noStrike" cap="none">
              <a:solidFill>
                <a:srgbClr val="2B3541"/>
              </a:solidFill>
              <a:latin typeface="Times New Roman Bold" panose="02020503050405090304" charset="0"/>
              <a:ea typeface="Times New Roman" panose="02020503050405090304"/>
              <a:cs typeface="Times New Roman Bold" panose="02020503050405090304" charset="0"/>
              <a:sym typeface="Times New Roman" panose="02020503050405090304"/>
            </a:endParaRPr>
          </a:p>
          <a:p>
            <a:pPr marL="0" marR="0" lvl="0" indent="0" algn="l" rtl="0">
              <a:lnSpc>
                <a:spcPct val="162000"/>
              </a:lnSpc>
              <a:spcBef>
                <a:spcPts val="0"/>
              </a:spcBef>
              <a:spcAft>
                <a:spcPts val="0"/>
              </a:spcAft>
              <a:buClr>
                <a:srgbClr val="2B3541"/>
              </a:buClr>
              <a:buSzPts val="1850"/>
              <a:buFont typeface="Times New Roman" panose="02020503050405090304"/>
              <a:buNone/>
            </a:pPr>
            <a:r>
              <a:rPr lang="en-US" i="0" u="none" strike="noStrike" cap="none">
                <a:solidFill>
                  <a:srgbClr val="2B3541"/>
                </a:solidFill>
                <a:latin typeface="Times New Roman" panose="02020503050405090304"/>
                <a:ea typeface="Times New Roman" panose="02020503050405090304"/>
                <a:cs typeface="Times New Roman" panose="02020503050405090304"/>
                <a:sym typeface="Times New Roman" panose="02020503050405090304"/>
              </a:rPr>
              <a:t>Integrate with smartwatches and fitness trackers to collect real-time health data such as steps, calories burned, heart rate, sleep patterns, and activity levels.</a:t>
            </a:r>
            <a:endParaRPr lang="en-US" i="0" u="none" strike="noStrike" cap="none">
              <a:solidFill>
                <a:srgbClr val="2B3541"/>
              </a:solidFill>
              <a:latin typeface="Times New Roman" panose="02020503050405090304"/>
              <a:ea typeface="Times New Roman" panose="02020503050405090304"/>
              <a:cs typeface="Times New Roman" panose="02020503050405090304"/>
              <a:sym typeface="Times New Roman" panose="02020503050405090304"/>
            </a:endParaRPr>
          </a:p>
          <a:p>
            <a:pPr marL="0" marR="0" lvl="0" indent="0" algn="l" rtl="0">
              <a:lnSpc>
                <a:spcPct val="162000"/>
              </a:lnSpc>
              <a:spcBef>
                <a:spcPts val="0"/>
              </a:spcBef>
              <a:spcAft>
                <a:spcPts val="0"/>
              </a:spcAft>
              <a:buClr>
                <a:srgbClr val="2B3541"/>
              </a:buClr>
              <a:buSzPts val="1850"/>
              <a:buFont typeface="Times New Roman" panose="02020503050405090304"/>
              <a:buNone/>
            </a:pPr>
            <a:r>
              <a:rPr lang="en-US" i="0" u="none" strike="noStrike" cap="none">
                <a:solidFill>
                  <a:srgbClr val="2B3541"/>
                </a:solidFill>
                <a:latin typeface="Times New Roman" panose="02020503050405090304"/>
                <a:ea typeface="Times New Roman" panose="02020503050405090304"/>
                <a:cs typeface="Times New Roman" panose="02020503050405090304"/>
                <a:sym typeface="Times New Roman" panose="02020503050405090304"/>
              </a:rPr>
              <a:t>Use this data to generate more accurate and dynamic nutrition recommendations.</a:t>
            </a:r>
            <a:endParaRPr lang="en-US" i="0" u="none" strike="noStrike" cap="none">
              <a:solidFill>
                <a:srgbClr val="2B3541"/>
              </a:solidFill>
              <a:latin typeface="Times New Roman" panose="02020503050405090304"/>
              <a:ea typeface="Times New Roman" panose="02020503050405090304"/>
              <a:cs typeface="Times New Roman" panose="02020503050405090304"/>
              <a:sym typeface="Times New Roman" panose="02020503050405090304"/>
            </a:endParaRPr>
          </a:p>
          <a:p>
            <a:pPr marL="0" marR="0" lvl="0" indent="0" algn="l" rtl="0">
              <a:lnSpc>
                <a:spcPct val="162000"/>
              </a:lnSpc>
              <a:spcBef>
                <a:spcPts val="0"/>
              </a:spcBef>
              <a:spcAft>
                <a:spcPts val="0"/>
              </a:spcAft>
              <a:buClr>
                <a:srgbClr val="2B3541"/>
              </a:buClr>
              <a:buSzPts val="1850"/>
              <a:buFont typeface="Times New Roman" panose="02020503050405090304"/>
              <a:buNone/>
            </a:pPr>
            <a:r>
              <a:rPr lang="en-US" b="1" i="0" u="none" strike="noStrike" cap="none">
                <a:solidFill>
                  <a:srgbClr val="2B3541"/>
                </a:solidFill>
                <a:latin typeface="Times New Roman Bold" panose="02020503050405090304" charset="0"/>
                <a:ea typeface="Times New Roman" panose="02020503050405090304"/>
                <a:cs typeface="Times New Roman Bold" panose="02020503050405090304" charset="0"/>
                <a:sym typeface="Times New Roman" panose="02020503050405090304"/>
              </a:rPr>
              <a:t>2. Automatic Food &amp; Grocery Label Recognition</a:t>
            </a:r>
            <a:endParaRPr lang="en-US" b="1" i="0" u="none" strike="noStrike" cap="none">
              <a:solidFill>
                <a:srgbClr val="2B3541"/>
              </a:solidFill>
              <a:latin typeface="Times New Roman Bold" panose="02020503050405090304" charset="0"/>
              <a:ea typeface="Times New Roman" panose="02020503050405090304"/>
              <a:cs typeface="Times New Roman Bold" panose="02020503050405090304" charset="0"/>
              <a:sym typeface="Times New Roman" panose="02020503050405090304"/>
            </a:endParaRPr>
          </a:p>
          <a:p>
            <a:pPr marL="0" marR="0" lvl="0" indent="0" algn="l" rtl="0">
              <a:lnSpc>
                <a:spcPct val="162000"/>
              </a:lnSpc>
              <a:spcBef>
                <a:spcPts val="0"/>
              </a:spcBef>
              <a:spcAft>
                <a:spcPts val="0"/>
              </a:spcAft>
              <a:buClr>
                <a:srgbClr val="2B3541"/>
              </a:buClr>
              <a:buSzPts val="1850"/>
              <a:buFont typeface="Times New Roman" panose="02020503050405090304"/>
              <a:buNone/>
            </a:pPr>
            <a:r>
              <a:rPr lang="en-US" i="0" u="none" strike="noStrike" cap="none">
                <a:solidFill>
                  <a:srgbClr val="2B3541"/>
                </a:solidFill>
                <a:latin typeface="Times New Roman" panose="02020503050405090304"/>
                <a:ea typeface="Times New Roman" panose="02020503050405090304"/>
                <a:cs typeface="Times New Roman" panose="02020503050405090304"/>
                <a:sym typeface="Times New Roman" panose="02020503050405090304"/>
              </a:rPr>
              <a:t>Enhance the Nutrition Agent with advanced AI vision capabilities to automatically recognize food items and grocery labels from images.</a:t>
            </a:r>
            <a:endParaRPr lang="en-US" i="0" u="none" strike="noStrike" cap="none">
              <a:solidFill>
                <a:srgbClr val="2B3541"/>
              </a:solidFill>
              <a:latin typeface="Times New Roman" panose="02020503050405090304"/>
              <a:ea typeface="Times New Roman" panose="02020503050405090304"/>
              <a:cs typeface="Times New Roman" panose="02020503050405090304"/>
              <a:sym typeface="Times New Roman" panose="02020503050405090304"/>
            </a:endParaRPr>
          </a:p>
          <a:p>
            <a:pPr marL="0" marR="0" lvl="0" indent="0" algn="l" rtl="0">
              <a:lnSpc>
                <a:spcPct val="162000"/>
              </a:lnSpc>
              <a:spcBef>
                <a:spcPts val="0"/>
              </a:spcBef>
              <a:spcAft>
                <a:spcPts val="0"/>
              </a:spcAft>
              <a:buClr>
                <a:srgbClr val="2B3541"/>
              </a:buClr>
              <a:buSzPts val="1850"/>
              <a:buFont typeface="Times New Roman" panose="02020503050405090304"/>
              <a:buNone/>
            </a:pPr>
            <a:r>
              <a:rPr lang="en-US" i="0" u="none" strike="noStrike" cap="none">
                <a:solidFill>
                  <a:srgbClr val="2B3541"/>
                </a:solidFill>
                <a:latin typeface="Times New Roman" panose="02020503050405090304"/>
                <a:ea typeface="Times New Roman" panose="02020503050405090304"/>
                <a:cs typeface="Times New Roman" panose="02020503050405090304"/>
                <a:sym typeface="Times New Roman" panose="02020503050405090304"/>
              </a:rPr>
              <a:t>Provide instant nutrition analysis, ingredient detection, allergen alerts, and healthier alternatives without requiring manual food entry.</a:t>
            </a:r>
            <a:endParaRPr lang="en-US" i="0" u="none" strike="noStrike" cap="none">
              <a:solidFill>
                <a:srgbClr val="2B3541"/>
              </a:solidFill>
              <a:latin typeface="Times New Roman" panose="02020503050405090304"/>
              <a:ea typeface="Times New Roman" panose="02020503050405090304"/>
              <a:cs typeface="Times New Roman" panose="02020503050405090304"/>
              <a:sym typeface="Times New Roman" panose="02020503050405090304"/>
            </a:endParaRPr>
          </a:p>
          <a:p>
            <a:pPr marL="0" marR="0" lvl="0" indent="0" algn="l" rtl="0">
              <a:lnSpc>
                <a:spcPct val="162000"/>
              </a:lnSpc>
              <a:spcBef>
                <a:spcPts val="0"/>
              </a:spcBef>
              <a:spcAft>
                <a:spcPts val="0"/>
              </a:spcAft>
              <a:buClr>
                <a:srgbClr val="2B3541"/>
              </a:buClr>
              <a:buSzPts val="1850"/>
              <a:buFont typeface="Times New Roman" panose="02020503050405090304"/>
              <a:buNone/>
            </a:pPr>
            <a:r>
              <a:rPr lang="en-US" b="1" i="0" u="none" strike="noStrike" cap="none">
                <a:solidFill>
                  <a:srgbClr val="2B3541"/>
                </a:solidFill>
                <a:latin typeface="Times New Roman Bold" panose="02020503050405090304" charset="0"/>
                <a:ea typeface="Times New Roman" panose="02020503050405090304"/>
                <a:cs typeface="Times New Roman Bold" panose="02020503050405090304" charset="0"/>
                <a:sym typeface="Times New Roman" panose="02020503050405090304"/>
              </a:rPr>
              <a:t>3. Long-Term Personalized Health Tracking</a:t>
            </a:r>
            <a:endParaRPr lang="en-US" b="1" i="0" u="none" strike="noStrike" cap="none">
              <a:solidFill>
                <a:srgbClr val="2B3541"/>
              </a:solidFill>
              <a:latin typeface="Times New Roman Bold" panose="02020503050405090304" charset="0"/>
              <a:ea typeface="Times New Roman" panose="02020503050405090304"/>
              <a:cs typeface="Times New Roman Bold" panose="02020503050405090304" charset="0"/>
              <a:sym typeface="Times New Roman" panose="02020503050405090304"/>
            </a:endParaRPr>
          </a:p>
          <a:p>
            <a:pPr marL="0" marR="0" lvl="0" indent="0" algn="l" rtl="0">
              <a:lnSpc>
                <a:spcPct val="162000"/>
              </a:lnSpc>
              <a:spcBef>
                <a:spcPts val="0"/>
              </a:spcBef>
              <a:spcAft>
                <a:spcPts val="0"/>
              </a:spcAft>
              <a:buClr>
                <a:srgbClr val="2B3541"/>
              </a:buClr>
              <a:buSzPts val="1850"/>
              <a:buFont typeface="Times New Roman" panose="02020503050405090304"/>
              <a:buNone/>
            </a:pPr>
            <a:r>
              <a:rPr lang="en-US" i="0" u="none" strike="noStrike" cap="none">
                <a:solidFill>
                  <a:srgbClr val="2B3541"/>
                </a:solidFill>
                <a:latin typeface="Times New Roman" panose="02020503050405090304"/>
                <a:ea typeface="Times New Roman" panose="02020503050405090304"/>
                <a:cs typeface="Times New Roman" panose="02020503050405090304"/>
                <a:sym typeface="Times New Roman" panose="02020503050405090304"/>
              </a:rPr>
              <a:t>Store user nutrition history and feedback securely to continuously improve meal plans and recommendations.</a:t>
            </a:r>
            <a:endParaRPr lang="en-US" i="0" u="none" strike="noStrike" cap="none">
              <a:solidFill>
                <a:srgbClr val="2B3541"/>
              </a:solidFill>
              <a:latin typeface="Times New Roman" panose="02020503050405090304"/>
              <a:ea typeface="Times New Roman" panose="02020503050405090304"/>
              <a:cs typeface="Times New Roman" panose="02020503050405090304"/>
              <a:sym typeface="Times New Roman" panose="02020503050405090304"/>
            </a:endParaRPr>
          </a:p>
          <a:p>
            <a:pPr marL="0" marR="0" lvl="0" indent="0" algn="l" rtl="0">
              <a:lnSpc>
                <a:spcPct val="162000"/>
              </a:lnSpc>
              <a:spcBef>
                <a:spcPts val="0"/>
              </a:spcBef>
              <a:spcAft>
                <a:spcPts val="0"/>
              </a:spcAft>
              <a:buClr>
                <a:srgbClr val="2B3541"/>
              </a:buClr>
              <a:buSzPts val="1850"/>
              <a:buFont typeface="Times New Roman" panose="02020503050405090304"/>
              <a:buNone/>
            </a:pPr>
            <a:r>
              <a:rPr lang="en-US" i="0" u="none" strike="noStrike" cap="none">
                <a:solidFill>
                  <a:srgbClr val="2B3541"/>
                </a:solidFill>
                <a:latin typeface="Times New Roman" panose="02020503050405090304"/>
                <a:ea typeface="Times New Roman" panose="02020503050405090304"/>
                <a:cs typeface="Times New Roman" panose="02020503050405090304"/>
                <a:sym typeface="Times New Roman" panose="02020503050405090304"/>
              </a:rPr>
              <a:t>Track long-term progress toward fitness and health goals with personalized insights.</a:t>
            </a:r>
            <a:endParaRPr lang="en-US" i="0" u="none" strike="noStrike" cap="none">
              <a:solidFill>
                <a:srgbClr val="2B3541"/>
              </a:solidFill>
              <a:latin typeface="Times New Roman" panose="02020503050405090304"/>
              <a:ea typeface="Times New Roman" panose="02020503050405090304"/>
              <a:cs typeface="Times New Roman" panose="02020503050405090304"/>
              <a:sym typeface="Times New Roman" panose="02020503050405090304"/>
            </a:endParaRPr>
          </a:p>
          <a:p>
            <a:pPr marL="0" marR="0" lvl="0" indent="0" algn="l" rtl="0">
              <a:lnSpc>
                <a:spcPct val="162000"/>
              </a:lnSpc>
              <a:spcBef>
                <a:spcPts val="0"/>
              </a:spcBef>
              <a:spcAft>
                <a:spcPts val="0"/>
              </a:spcAft>
              <a:buClr>
                <a:srgbClr val="2B3541"/>
              </a:buClr>
              <a:buSzPts val="1850"/>
              <a:buFont typeface="Times New Roman" panose="02020503050405090304"/>
              <a:buNone/>
            </a:pPr>
            <a:r>
              <a:rPr lang="en-US" b="1" i="0" u="none" strike="noStrike" cap="none">
                <a:solidFill>
                  <a:srgbClr val="2B3541"/>
                </a:solidFill>
                <a:latin typeface="Times New Roman Bold" panose="02020503050405090304" charset="0"/>
                <a:ea typeface="Times New Roman" panose="02020503050405090304"/>
                <a:cs typeface="Times New Roman Bold" panose="02020503050405090304" charset="0"/>
                <a:sym typeface="Times New Roman" panose="02020503050405090304"/>
              </a:rPr>
              <a:t>4. Integration with Healthcare Professionals</a:t>
            </a:r>
            <a:endParaRPr lang="en-US" b="1" i="0" u="none" strike="noStrike" cap="none">
              <a:solidFill>
                <a:srgbClr val="2B3541"/>
              </a:solidFill>
              <a:latin typeface="Times New Roman Bold" panose="02020503050405090304" charset="0"/>
              <a:ea typeface="Times New Roman" panose="02020503050405090304"/>
              <a:cs typeface="Times New Roman Bold" panose="02020503050405090304" charset="0"/>
              <a:sym typeface="Times New Roman" panose="02020503050405090304"/>
            </a:endParaRPr>
          </a:p>
          <a:p>
            <a:pPr marL="0" marR="0" lvl="0" indent="0" algn="l" rtl="0">
              <a:lnSpc>
                <a:spcPct val="162000"/>
              </a:lnSpc>
              <a:spcBef>
                <a:spcPts val="0"/>
              </a:spcBef>
              <a:spcAft>
                <a:spcPts val="0"/>
              </a:spcAft>
              <a:buClr>
                <a:srgbClr val="2B3541"/>
              </a:buClr>
              <a:buSzPts val="1850"/>
              <a:buFont typeface="Times New Roman" panose="02020503050405090304"/>
              <a:buNone/>
            </a:pPr>
            <a:r>
              <a:rPr lang="en-US" i="0" u="none" strike="noStrike" cap="none">
                <a:solidFill>
                  <a:srgbClr val="2B3541"/>
                </a:solidFill>
                <a:latin typeface="Times New Roman" panose="02020503050405090304"/>
                <a:ea typeface="Times New Roman" panose="02020503050405090304"/>
                <a:cs typeface="Times New Roman" panose="02020503050405090304"/>
                <a:sym typeface="Times New Roman" panose="02020503050405090304"/>
              </a:rPr>
              <a:t>Enable secure sharing of nutrition reports with dietitians and healthcare providers for personalized consultation and monitoring.</a:t>
            </a:r>
            <a:endParaRPr lang="en-US" i="0" u="none" strike="noStrike" cap="none">
              <a:solidFill>
                <a:srgbClr val="2B3541"/>
              </a:solidFill>
              <a:latin typeface="Times New Roman" panose="02020503050405090304"/>
              <a:ea typeface="Times New Roman" panose="02020503050405090304"/>
              <a:cs typeface="Times New Roman" panose="02020503050405090304"/>
              <a:sym typeface="Times New Roman" panose="02020503050405090304"/>
            </a:endParaRPr>
          </a:p>
        </p:txBody>
      </p:sp>
      <p:sp>
        <p:nvSpPr>
          <p:cNvPr id="174" name="Google Shape;174;p42"/>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503050405090304"/>
              <a:buNone/>
            </a:pPr>
            <a:r>
              <a:rPr lang="en-US" sz="1850" b="0" i="0" u="none" strike="noStrike" cap="none">
                <a:solidFill>
                  <a:srgbClr val="2B3541"/>
                </a:solidFill>
                <a:latin typeface="Times New Roman" panose="02020503050405090304"/>
                <a:ea typeface="Times New Roman" panose="02020503050405090304"/>
                <a:cs typeface="Times New Roman" panose="02020503050405090304"/>
                <a:sym typeface="Times New Roman" panose="02020503050405090304"/>
              </a:rPr>
              <a:t>·</a:t>
            </a:r>
            <a:endParaRPr sz="1850" b="0" i="0" u="none" strike="noStrike" cap="none">
              <a:solidFill>
                <a:srgbClr val="000000"/>
              </a:solidFill>
              <a:latin typeface="Times New Roman" panose="02020503050405090304"/>
              <a:ea typeface="Times New Roman" panose="02020503050405090304"/>
              <a:cs typeface="Times New Roman" panose="02020503050405090304"/>
              <a:sym typeface="Times New Roman" panose="02020503050405090304"/>
            </a:endParaRPr>
          </a:p>
        </p:txBody>
      </p:sp>
      <p:sp>
        <p:nvSpPr>
          <p:cNvPr id="175" name="Google Shape;175;p42"/>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503050405090304"/>
              <a:buNone/>
            </a:pPr>
            <a:r>
              <a:rPr lang="en-US" sz="1850" b="0" i="0" u="none" strike="noStrike" cap="none">
                <a:solidFill>
                  <a:srgbClr val="2B3541"/>
                </a:solidFill>
                <a:latin typeface="Times New Roman" panose="02020503050405090304"/>
                <a:ea typeface="Times New Roman" panose="02020503050405090304"/>
                <a:cs typeface="Times New Roman" panose="02020503050405090304"/>
                <a:sym typeface="Times New Roman" panose="02020503050405090304"/>
              </a:rPr>
              <a:t>·</a:t>
            </a:r>
            <a:endParaRPr sz="1850" b="0" i="0" u="none" strike="noStrike" cap="none">
              <a:solidFill>
                <a:srgbClr val="000000"/>
              </a:solidFill>
              <a:latin typeface="Times New Roman" panose="02020503050405090304"/>
              <a:ea typeface="Times New Roman" panose="02020503050405090304"/>
              <a:cs typeface="Times New Roman" panose="02020503050405090304"/>
              <a:sym typeface="Times New Roman" panose="02020503050405090304"/>
            </a:endParaRPr>
          </a:p>
        </p:txBody>
      </p:sp>
      <p:sp>
        <p:nvSpPr>
          <p:cNvPr id="176" name="Google Shape;176;p42"/>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503050405090304"/>
              <a:buNone/>
            </a:pPr>
            <a:r>
              <a:rPr lang="en-US" sz="1850" b="0" i="0" u="none" strike="noStrike" cap="none">
                <a:solidFill>
                  <a:srgbClr val="2B3541"/>
                </a:solidFill>
                <a:latin typeface="Times New Roman" panose="02020503050405090304"/>
                <a:ea typeface="Times New Roman" panose="02020503050405090304"/>
                <a:cs typeface="Times New Roman" panose="02020503050405090304"/>
                <a:sym typeface="Times New Roman" panose="02020503050405090304"/>
              </a:rPr>
              <a:t>·</a:t>
            </a:r>
            <a:endParaRPr sz="1850" b="0" i="0" u="none" strike="noStrike" cap="none">
              <a:solidFill>
                <a:srgbClr val="000000"/>
              </a:solidFill>
              <a:latin typeface="Times New Roman" panose="02020503050405090304"/>
              <a:ea typeface="Times New Roman" panose="02020503050405090304"/>
              <a:cs typeface="Times New Roman" panose="02020503050405090304"/>
              <a:sym typeface="Times New Roman" panose="02020503050405090304"/>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80" name="Shape 180"/>
        <p:cNvGrpSpPr/>
        <p:nvPr/>
      </p:nvGrpSpPr>
      <p:grpSpPr>
        <a:xfrm>
          <a:off x="0" y="0"/>
          <a:ext cx="0" cy="0"/>
          <a:chOff x="0" y="0"/>
          <a:chExt cx="0" cy="0"/>
        </a:xfrm>
      </p:grpSpPr>
      <p:sp>
        <p:nvSpPr>
          <p:cNvPr id="182" name="Google Shape;182;p43"/>
          <p:cNvSpPr txBox="1"/>
          <p:nvPr/>
        </p:nvSpPr>
        <p:spPr>
          <a:xfrm>
            <a:off x="327949" y="207380"/>
            <a:ext cx="6096000" cy="67710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a:solidFill>
                  <a:srgbClr val="000000"/>
                </a:solidFill>
                <a:latin typeface="Arial" panose="020B0604020202090204"/>
                <a:ea typeface="Arial" panose="020B0604020202090204"/>
                <a:cs typeface="Arial" panose="020B0604020202090204"/>
                <a:sym typeface="Arial" panose="020B0604020202090204"/>
              </a:rPr>
              <a:t>Certificates Earned:</a:t>
            </a:r>
            <a:endParaRPr lang="en-US" sz="2400" b="1" i="0" u="none" strike="noStrike" cap="none">
              <a:solidFill>
                <a:srgbClr val="000000"/>
              </a:solidFill>
              <a:latin typeface="Arial" panose="020B0604020202090204"/>
              <a:ea typeface="Arial" panose="020B0604020202090204"/>
              <a:cs typeface="Arial" panose="020B0604020202090204"/>
              <a:sym typeface="Arial" panose="020B0604020202090204"/>
            </a:endParaRPr>
          </a:p>
          <a:p>
            <a:pPr marL="0" marR="0" lvl="0" indent="0" algn="ctr" rtl="0">
              <a:lnSpc>
                <a:spcPct val="100000"/>
              </a:lnSpc>
              <a:spcBef>
                <a:spcPts val="0"/>
              </a:spcBef>
              <a:spcAft>
                <a:spcPts val="0"/>
              </a:spcAft>
              <a:buNone/>
            </a:pP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83" name="Google Shape;183;p43"/>
          <p:cNvSpPr txBox="1"/>
          <p:nvPr/>
        </p:nvSpPr>
        <p:spPr>
          <a:xfrm>
            <a:off x="552048" y="690061"/>
            <a:ext cx="6389965" cy="5232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800" b="1" i="0" u="none" strike="noStrike" cap="none">
                <a:solidFill>
                  <a:srgbClr val="000000"/>
                </a:solidFill>
                <a:latin typeface="Arial" panose="020B0604020202090204"/>
                <a:ea typeface="Arial" panose="020B0604020202090204"/>
                <a:cs typeface="Arial" panose="020B0604020202090204"/>
                <a:sym typeface="Arial" panose="020B0604020202090204"/>
              </a:rPr>
              <a:t>Please  add your credly certificate </a:t>
            </a:r>
            <a:endParaRPr lang="en-US" sz="2800" b="1"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pic>
        <p:nvPicPr>
          <p:cNvPr id="5" name="Picture 4" descr="Screenshot 2026-06-29 at 8.06.37 PM"/>
          <p:cNvPicPr>
            <a:picLocks noChangeAspect="1"/>
          </p:cNvPicPr>
          <p:nvPr/>
        </p:nvPicPr>
        <p:blipFill>
          <a:blip r:embed="rId1"/>
          <a:srcRect l="27934" t="14019" r="9915" b="11228"/>
          <a:stretch>
            <a:fillRect/>
          </a:stretch>
        </p:blipFill>
        <p:spPr>
          <a:xfrm>
            <a:off x="1558925" y="1484630"/>
            <a:ext cx="6408420" cy="460819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87" name="Shape 187"/>
        <p:cNvGrpSpPr/>
        <p:nvPr/>
      </p:nvGrpSpPr>
      <p:grpSpPr>
        <a:xfrm>
          <a:off x="0" y="0"/>
          <a:ext cx="0" cy="0"/>
          <a:chOff x="0" y="0"/>
          <a:chExt cx="0" cy="0"/>
        </a:xfrm>
      </p:grpSpPr>
      <p:sp>
        <p:nvSpPr>
          <p:cNvPr id="189" name="Google Shape;189;p44"/>
          <p:cNvSpPr txBox="1"/>
          <p:nvPr/>
        </p:nvSpPr>
        <p:spPr>
          <a:xfrm>
            <a:off x="176696" y="226391"/>
            <a:ext cx="6096000" cy="67710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a:solidFill>
                  <a:srgbClr val="000000"/>
                </a:solidFill>
                <a:latin typeface="Arial" panose="020B0604020202090204"/>
                <a:ea typeface="Arial" panose="020B0604020202090204"/>
                <a:cs typeface="Arial" panose="020B0604020202090204"/>
                <a:sym typeface="Arial" panose="020B0604020202090204"/>
              </a:rPr>
              <a:t>Certificates Earned:</a:t>
            </a:r>
            <a:r>
              <a:rPr lang="en-US" sz="2400" b="0" i="0" u="none" strike="noStrike" cap="none">
                <a:solidFill>
                  <a:srgbClr val="000000"/>
                </a:solidFill>
                <a:latin typeface="Arial" panose="020B0604020202090204"/>
                <a:ea typeface="Arial" panose="020B0604020202090204"/>
                <a:cs typeface="Arial" panose="020B0604020202090204"/>
                <a:sym typeface="Arial" panose="020B0604020202090204"/>
              </a:rPr>
              <a:t>​</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a:p>
            <a:pPr marL="0" marR="0" lvl="0" indent="0" algn="ctr" rtl="0">
              <a:lnSpc>
                <a:spcPct val="100000"/>
              </a:lnSpc>
              <a:spcBef>
                <a:spcPts val="0"/>
              </a:spcBef>
              <a:spcAft>
                <a:spcPts val="0"/>
              </a:spcAft>
              <a:buNone/>
            </a:pP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90" name="Google Shape;190;p44"/>
          <p:cNvSpPr txBox="1"/>
          <p:nvPr/>
        </p:nvSpPr>
        <p:spPr>
          <a:xfrm>
            <a:off x="496843" y="800470"/>
            <a:ext cx="5437681"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000" b="1" i="0" u="none" strike="noStrike" cap="none">
                <a:solidFill>
                  <a:srgbClr val="000000"/>
                </a:solidFill>
                <a:latin typeface="Arial" panose="020B0604020202090204"/>
                <a:ea typeface="Arial" panose="020B0604020202090204"/>
                <a:cs typeface="Arial" panose="020B0604020202090204"/>
                <a:sym typeface="Arial" panose="020B0604020202090204"/>
              </a:rPr>
              <a:t>Add your IBM BOB Certificate</a:t>
            </a:r>
            <a:endParaRPr lang="en-US" sz="2000" b="1"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6" name="Text Box 5"/>
          <p:cNvSpPr txBox="1"/>
          <p:nvPr/>
        </p:nvSpPr>
        <p:spPr>
          <a:xfrm>
            <a:off x="11096625" y="5471795"/>
            <a:ext cx="4064000" cy="306705"/>
          </a:xfrm>
          <a:prstGeom prst="rect">
            <a:avLst/>
          </a:prstGeom>
          <a:noFill/>
        </p:spPr>
        <p:txBody>
          <a:bodyPr wrap="square" rtlCol="0">
            <a:spAutoFit/>
          </a:bodyPr>
          <a:p>
            <a:endParaRPr lang="en-US"/>
          </a:p>
        </p:txBody>
      </p:sp>
      <p:pic>
        <p:nvPicPr>
          <p:cNvPr id="2" name="Picture 1" descr="Screenshot 2026-07-06 at 10.54.27 AM"/>
          <p:cNvPicPr>
            <a:picLocks noChangeAspect="1"/>
          </p:cNvPicPr>
          <p:nvPr/>
        </p:nvPicPr>
        <p:blipFill>
          <a:blip r:embed="rId1"/>
          <a:stretch>
            <a:fillRect/>
          </a:stretch>
        </p:blipFill>
        <p:spPr>
          <a:xfrm>
            <a:off x="1847215" y="1484630"/>
            <a:ext cx="7137400" cy="464185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94" name="Shape 194"/>
        <p:cNvGrpSpPr/>
        <p:nvPr/>
      </p:nvGrpSpPr>
      <p:grpSpPr>
        <a:xfrm>
          <a:off x="0" y="0"/>
          <a:ext cx="0" cy="0"/>
          <a:chOff x="0" y="0"/>
          <a:chExt cx="0" cy="0"/>
        </a:xfrm>
      </p:grpSpPr>
      <p:pic>
        <p:nvPicPr>
          <p:cNvPr id="195" name="Google Shape;195;p20"/>
          <p:cNvPicPr preferRelativeResize="0"/>
          <p:nvPr/>
        </p:nvPicPr>
        <p:blipFill rotWithShape="1">
          <a:blip r:embed="rId1"/>
          <a:srcRect/>
          <a:stretch>
            <a:fill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10968</Words>
  <Application>WPS Presentation</Application>
  <PresentationFormat/>
  <Paragraphs>227</Paragraphs>
  <Slides>15</Slides>
  <Notes>0</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15</vt:i4>
      </vt:variant>
    </vt:vector>
  </HeadingPairs>
  <TitlesOfParts>
    <vt:vector size="29" baseType="lpstr">
      <vt:lpstr>Arial</vt:lpstr>
      <vt:lpstr>SimSun</vt:lpstr>
      <vt:lpstr>Wingdings</vt:lpstr>
      <vt:lpstr>Arial</vt:lpstr>
      <vt:lpstr>Calibri</vt:lpstr>
      <vt:lpstr>Helvetica Neue</vt:lpstr>
      <vt:lpstr>Times New Roman</vt:lpstr>
      <vt:lpstr>Arial Bold</vt:lpstr>
      <vt:lpstr>Times New Roman Bold</vt:lpstr>
      <vt:lpstr>Microsoft YaHei</vt:lpstr>
      <vt:lpstr>汉仪旗黑</vt:lpstr>
      <vt:lpstr>Arial Unicode MS</vt:lpstr>
      <vt:lpstr>宋体-简</vt:lpstr>
      <vt:lpstr>Office Theme</vt:lpstr>
      <vt:lpstr>IBM University Engagement Project Submission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IBM University Engagement Project Submission </dc:title>
  <dc:creator>Manda Anirudh</dc:creator>
  <cp:lastModifiedBy>bhagyagoudar</cp:lastModifiedBy>
  <cp:revision>8</cp:revision>
  <dcterms:created xsi:type="dcterms:W3CDTF">2026-07-09T17:39:10Z</dcterms:created>
  <dcterms:modified xsi:type="dcterms:W3CDTF">2026-07-09T17:39:10Z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D4E8B690BFF0E2EFBEDC4F6A44D66612_43</vt:lpwstr>
  </property>
  <property fmtid="{D5CDD505-2E9C-101B-9397-08002B2CF9AE}" pid="3" name="KSOProductBuildVer">
    <vt:lpwstr>1033-6.10.1.8197</vt:lpwstr>
  </property>
</Properties>
</file>